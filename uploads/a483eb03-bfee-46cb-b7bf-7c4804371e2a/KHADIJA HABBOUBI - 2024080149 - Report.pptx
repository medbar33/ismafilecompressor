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HK Grotesk Bold" charset="1" panose="00000800000000000000"/>
      <p:regular r:id="rId40"/>
    </p:embeddedFont>
    <p:embeddedFont>
      <p:font typeface="HK Grotesk Medium" charset="1" panose="00000600000000000000"/>
      <p:regular r:id="rId41"/>
    </p:embeddedFont>
    <p:embeddedFont>
      <p:font typeface="HK Grotesk" charset="1" panose="000005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56279" y="2649462"/>
            <a:ext cx="15052946" cy="4200525"/>
          </a:xfrm>
          <a:prstGeom prst="rect">
            <a:avLst/>
          </a:prstGeom>
        </p:spPr>
        <p:txBody>
          <a:bodyPr anchor="t" rtlCol="false" tIns="0" lIns="0" bIns="0" rIns="0">
            <a:spAutoFit/>
          </a:bodyPr>
          <a:lstStyle/>
          <a:p>
            <a:pPr algn="ctr">
              <a:lnSpc>
                <a:spcPts val="16800"/>
              </a:lnSpc>
            </a:pPr>
            <a:r>
              <a:rPr lang="en-US" b="true" sz="12000">
                <a:solidFill>
                  <a:srgbClr val="000000"/>
                </a:solidFill>
                <a:latin typeface="HK Grotesk Bold"/>
                <a:ea typeface="HK Grotesk Bold"/>
                <a:cs typeface="HK Grotesk Bold"/>
                <a:sym typeface="HK Grotesk Bold"/>
              </a:rPr>
              <a:t>Digital electronics and logic design</a:t>
            </a:r>
          </a:p>
        </p:txBody>
      </p:sp>
      <p:sp>
        <p:nvSpPr>
          <p:cNvPr name="TextBox 15" id="15"/>
          <p:cNvSpPr txBox="true"/>
          <p:nvPr/>
        </p:nvSpPr>
        <p:spPr>
          <a:xfrm rot="0">
            <a:off x="1756279" y="7228840"/>
            <a:ext cx="15052946" cy="962660"/>
          </a:xfrm>
          <a:prstGeom prst="rect">
            <a:avLst/>
          </a:prstGeom>
        </p:spPr>
        <p:txBody>
          <a:bodyPr anchor="t" rtlCol="false" tIns="0" lIns="0" bIns="0" rIns="0">
            <a:spAutoFit/>
          </a:bodyPr>
          <a:lstStyle/>
          <a:p>
            <a:pPr algn="ctr">
              <a:lnSpc>
                <a:spcPts val="7840"/>
              </a:lnSpc>
            </a:pPr>
            <a:r>
              <a:rPr lang="en-US" b="true" sz="5600" spc="448">
                <a:solidFill>
                  <a:srgbClr val="000000"/>
                </a:solidFill>
                <a:latin typeface="HK Grotesk Bold"/>
                <a:ea typeface="HK Grotesk Bold"/>
                <a:cs typeface="HK Grotesk Bold"/>
                <a:sym typeface="HK Grotesk Bold"/>
              </a:rPr>
              <a:t>KHADIJA HABBOUBI</a:t>
            </a:r>
          </a:p>
        </p:txBody>
      </p:sp>
      <p:sp>
        <p:nvSpPr>
          <p:cNvPr name="TextBox 16" id="16"/>
          <p:cNvSpPr txBox="true"/>
          <p:nvPr/>
        </p:nvSpPr>
        <p:spPr>
          <a:xfrm rot="0">
            <a:off x="1756279" y="1514352"/>
            <a:ext cx="6532268"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HK Grotesk Medium"/>
                <a:ea typeface="HK Grotesk Medium"/>
                <a:cs typeface="HK Grotesk Medium"/>
                <a:sym typeface="HK Grotesk Medium"/>
              </a:rPr>
              <a:t>REPORT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06819" y="1400052"/>
            <a:ext cx="13874363"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HK Grotesk Bold"/>
                <a:ea typeface="HK Grotesk Bold"/>
                <a:cs typeface="HK Grotesk Bold"/>
                <a:sym typeface="HK Grotesk Bold"/>
              </a:rPr>
              <a:t>Learning Objectives</a:t>
            </a:r>
          </a:p>
        </p:txBody>
      </p:sp>
      <p:grpSp>
        <p:nvGrpSpPr>
          <p:cNvPr name="Group 15" id="15"/>
          <p:cNvGrpSpPr/>
          <p:nvPr/>
        </p:nvGrpSpPr>
        <p:grpSpPr>
          <a:xfrm rot="0">
            <a:off x="2359219" y="3535935"/>
            <a:ext cx="13963171" cy="1047750"/>
            <a:chOff x="0" y="0"/>
            <a:chExt cx="18617561" cy="1397000"/>
          </a:xfrm>
        </p:grpSpPr>
        <p:grpSp>
          <p:nvGrpSpPr>
            <p:cNvPr name="Group 16" id="16"/>
            <p:cNvGrpSpPr/>
            <p:nvPr/>
          </p:nvGrpSpPr>
          <p:grpSpPr>
            <a:xfrm rot="0">
              <a:off x="0" y="0"/>
              <a:ext cx="18617561" cy="1397000"/>
              <a:chOff x="0" y="0"/>
              <a:chExt cx="3677543" cy="275951"/>
            </a:xfrm>
          </p:grpSpPr>
          <p:sp>
            <p:nvSpPr>
              <p:cNvPr name="Freeform 17" id="1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18" id="1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Electronic Circuit Analysis</a:t>
              </a:r>
            </a:p>
          </p:txBody>
        </p:sp>
      </p:grpSp>
      <p:grpSp>
        <p:nvGrpSpPr>
          <p:cNvPr name="Group 20" id="20"/>
          <p:cNvGrpSpPr/>
          <p:nvPr/>
        </p:nvGrpSpPr>
        <p:grpSpPr>
          <a:xfrm rot="0">
            <a:off x="2359219" y="4895788"/>
            <a:ext cx="13963171" cy="1047750"/>
            <a:chOff x="0" y="0"/>
            <a:chExt cx="18617561" cy="1397000"/>
          </a:xfrm>
        </p:grpSpPr>
        <p:grpSp>
          <p:nvGrpSpPr>
            <p:cNvPr name="Group 21" id="21"/>
            <p:cNvGrpSpPr/>
            <p:nvPr/>
          </p:nvGrpSpPr>
          <p:grpSpPr>
            <a:xfrm rot="0">
              <a:off x="0" y="0"/>
              <a:ext cx="18617561" cy="1397000"/>
              <a:chOff x="0" y="0"/>
              <a:chExt cx="3677543" cy="275951"/>
            </a:xfrm>
          </p:grpSpPr>
          <p:sp>
            <p:nvSpPr>
              <p:cNvPr name="Freeform 22" id="2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3" id="2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Logic Algebra and Simplification</a:t>
              </a:r>
            </a:p>
          </p:txBody>
        </p:sp>
      </p:grpSp>
      <p:grpSp>
        <p:nvGrpSpPr>
          <p:cNvPr name="Group 25" id="25"/>
          <p:cNvGrpSpPr/>
          <p:nvPr/>
        </p:nvGrpSpPr>
        <p:grpSpPr>
          <a:xfrm rot="0">
            <a:off x="2359219" y="7667625"/>
            <a:ext cx="13963171" cy="1047750"/>
            <a:chOff x="0" y="0"/>
            <a:chExt cx="18617561" cy="1397000"/>
          </a:xfrm>
        </p:grpSpPr>
        <p:grpSp>
          <p:nvGrpSpPr>
            <p:cNvPr name="Group 26" id="26"/>
            <p:cNvGrpSpPr/>
            <p:nvPr/>
          </p:nvGrpSpPr>
          <p:grpSpPr>
            <a:xfrm rot="0">
              <a:off x="0" y="0"/>
              <a:ext cx="18617561" cy="1397000"/>
              <a:chOff x="0" y="0"/>
              <a:chExt cx="3677543" cy="275951"/>
            </a:xfrm>
          </p:grpSpPr>
          <p:sp>
            <p:nvSpPr>
              <p:cNvPr name="Freeform 27" id="2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8" id="2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Boolean and Gate Logic </a:t>
              </a:r>
            </a:p>
          </p:txBody>
        </p:sp>
      </p:grpSp>
      <p:grpSp>
        <p:nvGrpSpPr>
          <p:cNvPr name="Group 30" id="30"/>
          <p:cNvGrpSpPr/>
          <p:nvPr/>
        </p:nvGrpSpPr>
        <p:grpSpPr>
          <a:xfrm rot="0">
            <a:off x="2359219" y="6281707"/>
            <a:ext cx="13963171" cy="1047750"/>
            <a:chOff x="0" y="0"/>
            <a:chExt cx="18617561" cy="1397000"/>
          </a:xfrm>
        </p:grpSpPr>
        <p:grpSp>
          <p:nvGrpSpPr>
            <p:cNvPr name="Group 31" id="31"/>
            <p:cNvGrpSpPr/>
            <p:nvPr/>
          </p:nvGrpSpPr>
          <p:grpSpPr>
            <a:xfrm rot="0">
              <a:off x="0" y="0"/>
              <a:ext cx="18617561" cy="1397000"/>
              <a:chOff x="0" y="0"/>
              <a:chExt cx="3677543" cy="275951"/>
            </a:xfrm>
          </p:grpSpPr>
          <p:sp>
            <p:nvSpPr>
              <p:cNvPr name="Freeform 32" id="3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33" id="3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Digital Signal Systems and Binary Systems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115354" y="3320744"/>
            <a:ext cx="12790492" cy="4939030"/>
          </a:xfrm>
          <a:prstGeom prst="rect">
            <a:avLst/>
          </a:prstGeom>
        </p:spPr>
        <p:txBody>
          <a:bodyPr anchor="t" rtlCol="false" tIns="0" lIns="0" bIns="0" rIns="0">
            <a:spAutoFit/>
          </a:bodyPr>
          <a:lstStyle/>
          <a:p>
            <a:pPr algn="l">
              <a:lnSpc>
                <a:spcPts val="3919"/>
              </a:lnSpc>
            </a:pPr>
            <a:r>
              <a:rPr lang="en-US" sz="2799" b="true">
                <a:solidFill>
                  <a:srgbClr val="000000"/>
                </a:solidFill>
                <a:latin typeface="HK Grotesk Medium"/>
                <a:ea typeface="HK Grotesk Medium"/>
                <a:cs typeface="HK Grotesk Medium"/>
                <a:sym typeface="HK Grotesk Medium"/>
              </a:rPr>
              <a:t>Electronic circuit analysis is key to understanding how electrical systems work. Using Ohm’s Law, the relationship between voltage, current, and resistance is established, explaining how circuits behave in series and parallel. Kirchhoff’s Theorems (KCL and KVL) provide tools to analyze circuit currents and voltages systematically.</a:t>
            </a:r>
          </a:p>
          <a:p>
            <a:pPr algn="l">
              <a:lnSpc>
                <a:spcPts val="3919"/>
              </a:lnSpc>
            </a:pPr>
            <a:r>
              <a:rPr lang="en-US" sz="2799" b="true">
                <a:solidFill>
                  <a:srgbClr val="000000"/>
                </a:solidFill>
                <a:latin typeface="HK Grotesk Medium"/>
                <a:ea typeface="HK Grotesk Medium"/>
                <a:cs typeface="HK Grotesk Medium"/>
                <a:sym typeface="HK Grotesk Medium"/>
              </a:rPr>
              <a:t>Simplification methods like the Thevenin and Norton Theorems reduce complex circuits to simpler equivalents, while the Superposition Principle helps analyze circuits with multiple power sources. These principles enable the design, troubleshooting, and optimization of electronic systems.</a:t>
            </a:r>
          </a:p>
          <a:p>
            <a:pPr algn="l">
              <a:lnSpc>
                <a:spcPts val="3919"/>
              </a:lnSpc>
            </a:pPr>
          </a:p>
        </p:txBody>
      </p:sp>
      <p:sp>
        <p:nvSpPr>
          <p:cNvPr name="TextBox 15" id="15"/>
          <p:cNvSpPr txBox="true"/>
          <p:nvPr/>
        </p:nvSpPr>
        <p:spPr>
          <a:xfrm rot="0">
            <a:off x="1724497" y="1400052"/>
            <a:ext cx="15116510"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1-Electronic Circuit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06819" y="1400052"/>
            <a:ext cx="13874363"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HK Grotesk Bold"/>
                <a:ea typeface="HK Grotesk Bold"/>
                <a:cs typeface="HK Grotesk Bold"/>
                <a:sym typeface="HK Grotesk Bold"/>
              </a:rPr>
              <a:t>Content</a:t>
            </a:r>
          </a:p>
        </p:txBody>
      </p:sp>
      <p:grpSp>
        <p:nvGrpSpPr>
          <p:cNvPr name="Group 15" id="15"/>
          <p:cNvGrpSpPr/>
          <p:nvPr/>
        </p:nvGrpSpPr>
        <p:grpSpPr>
          <a:xfrm rot="0">
            <a:off x="2206819" y="3252536"/>
            <a:ext cx="13963171" cy="1047750"/>
            <a:chOff x="0" y="0"/>
            <a:chExt cx="18617561" cy="1397000"/>
          </a:xfrm>
        </p:grpSpPr>
        <p:grpSp>
          <p:nvGrpSpPr>
            <p:cNvPr name="Group 16" id="16"/>
            <p:cNvGrpSpPr/>
            <p:nvPr/>
          </p:nvGrpSpPr>
          <p:grpSpPr>
            <a:xfrm rot="0">
              <a:off x="0" y="0"/>
              <a:ext cx="18617561" cy="1397000"/>
              <a:chOff x="0" y="0"/>
              <a:chExt cx="3677543" cy="275951"/>
            </a:xfrm>
          </p:grpSpPr>
          <p:sp>
            <p:nvSpPr>
              <p:cNvPr name="Freeform 17" id="1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18" id="1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Ohm’s Law</a:t>
              </a:r>
            </a:p>
          </p:txBody>
        </p:sp>
      </p:grpSp>
      <p:grpSp>
        <p:nvGrpSpPr>
          <p:cNvPr name="Group 20" id="20"/>
          <p:cNvGrpSpPr/>
          <p:nvPr/>
        </p:nvGrpSpPr>
        <p:grpSpPr>
          <a:xfrm rot="0">
            <a:off x="2206819" y="5028427"/>
            <a:ext cx="13963171" cy="1047750"/>
            <a:chOff x="0" y="0"/>
            <a:chExt cx="18617561" cy="1397000"/>
          </a:xfrm>
        </p:grpSpPr>
        <p:grpSp>
          <p:nvGrpSpPr>
            <p:cNvPr name="Group 21" id="21"/>
            <p:cNvGrpSpPr/>
            <p:nvPr/>
          </p:nvGrpSpPr>
          <p:grpSpPr>
            <a:xfrm rot="0">
              <a:off x="0" y="0"/>
              <a:ext cx="18617561" cy="1397000"/>
              <a:chOff x="0" y="0"/>
              <a:chExt cx="3677543" cy="275951"/>
            </a:xfrm>
          </p:grpSpPr>
          <p:sp>
            <p:nvSpPr>
              <p:cNvPr name="Freeform 22" id="2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3" id="2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Kirchhoff's Theorems</a:t>
              </a:r>
            </a:p>
          </p:txBody>
        </p:sp>
      </p:grpSp>
      <p:grpSp>
        <p:nvGrpSpPr>
          <p:cNvPr name="Group 25" id="25"/>
          <p:cNvGrpSpPr/>
          <p:nvPr/>
        </p:nvGrpSpPr>
        <p:grpSpPr>
          <a:xfrm rot="0">
            <a:off x="2206819" y="6804319"/>
            <a:ext cx="13963171" cy="1047750"/>
            <a:chOff x="0" y="0"/>
            <a:chExt cx="18617561" cy="1397000"/>
          </a:xfrm>
        </p:grpSpPr>
        <p:grpSp>
          <p:nvGrpSpPr>
            <p:cNvPr name="Group 26" id="26"/>
            <p:cNvGrpSpPr/>
            <p:nvPr/>
          </p:nvGrpSpPr>
          <p:grpSpPr>
            <a:xfrm rot="0">
              <a:off x="0" y="0"/>
              <a:ext cx="18617561" cy="1397000"/>
              <a:chOff x="0" y="0"/>
              <a:chExt cx="3677543" cy="275951"/>
            </a:xfrm>
          </p:grpSpPr>
          <p:sp>
            <p:nvSpPr>
              <p:cNvPr name="Freeform 27" id="2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8" id="2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Thevenin-Norton Theorem</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19260" y="3053728"/>
            <a:ext cx="14326985" cy="5338699"/>
          </a:xfrm>
          <a:prstGeom prst="rect">
            <a:avLst/>
          </a:prstGeom>
        </p:spPr>
        <p:txBody>
          <a:bodyPr anchor="t" rtlCol="false" tIns="0" lIns="0" bIns="0" rIns="0">
            <a:spAutoFit/>
          </a:bodyPr>
          <a:lstStyle/>
          <a:p>
            <a:pPr algn="l">
              <a:lnSpc>
                <a:spcPts val="3247"/>
              </a:lnSpc>
            </a:pPr>
            <a:r>
              <a:rPr lang="en-US" sz="2799" b="true">
                <a:solidFill>
                  <a:srgbClr val="000000"/>
                </a:solidFill>
                <a:latin typeface="HK Grotesk Medium"/>
                <a:ea typeface="HK Grotesk Medium"/>
                <a:cs typeface="HK Grotesk Medium"/>
                <a:sym typeface="HK Grotesk Medium"/>
              </a:rPr>
              <a:t>Ohm's Law is a fundamental principle in electrical engineering and circuit analysis that describes the relationship between voltage (V), current (I), and resistance (R) in an electrical circuit. It is mathematically expressed as:</a:t>
            </a:r>
          </a:p>
          <a:p>
            <a:pPr algn="l">
              <a:lnSpc>
                <a:spcPts val="3247"/>
              </a:lnSpc>
            </a:pPr>
          </a:p>
          <a:p>
            <a:pPr algn="l">
              <a:lnSpc>
                <a:spcPts val="3359"/>
              </a:lnSpc>
            </a:pPr>
            <a:r>
              <a:rPr lang="en-US" sz="2799" b="true">
                <a:solidFill>
                  <a:srgbClr val="000000"/>
                </a:solidFill>
                <a:latin typeface="HK Grotesk Medium"/>
                <a:ea typeface="HK Grotesk Medium"/>
                <a:cs typeface="HK Grotesk Medium"/>
                <a:sym typeface="HK Grotesk Medium"/>
              </a:rPr>
              <a:t>V=I⋅R</a:t>
            </a:r>
          </a:p>
          <a:p>
            <a:pPr algn="l">
              <a:lnSpc>
                <a:spcPts val="3247"/>
              </a:lnSpc>
            </a:pPr>
          </a:p>
          <a:p>
            <a:pPr algn="l">
              <a:lnSpc>
                <a:spcPts val="3247"/>
              </a:lnSpc>
            </a:pPr>
            <a:r>
              <a:rPr lang="en-US" sz="2799" b="true">
                <a:solidFill>
                  <a:srgbClr val="000000"/>
                </a:solidFill>
                <a:latin typeface="HK Grotesk Medium"/>
                <a:ea typeface="HK Grotesk Medium"/>
                <a:cs typeface="HK Grotesk Medium"/>
                <a:sym typeface="HK Grotesk Medium"/>
              </a:rPr>
              <a:t>Where:</a:t>
            </a:r>
          </a:p>
          <a:p>
            <a:pPr algn="l">
              <a:lnSpc>
                <a:spcPts val="3247"/>
              </a:lnSpc>
            </a:pPr>
          </a:p>
          <a:p>
            <a:pPr algn="l">
              <a:lnSpc>
                <a:spcPts val="3247"/>
              </a:lnSpc>
            </a:pPr>
            <a:r>
              <a:rPr lang="en-US" sz="2799" b="true">
                <a:solidFill>
                  <a:srgbClr val="000000"/>
                </a:solidFill>
                <a:latin typeface="HK Grotesk Medium"/>
                <a:ea typeface="HK Grotesk Medium"/>
                <a:cs typeface="HK Grotesk Medium"/>
                <a:sym typeface="HK Grotesk Medium"/>
              </a:rPr>
              <a:t>- V is the voltage across the resistor (in volts),</a:t>
            </a:r>
          </a:p>
          <a:p>
            <a:pPr algn="l">
              <a:lnSpc>
                <a:spcPts val="3247"/>
              </a:lnSpc>
            </a:pPr>
          </a:p>
          <a:p>
            <a:pPr algn="l">
              <a:lnSpc>
                <a:spcPts val="3247"/>
              </a:lnSpc>
            </a:pPr>
            <a:r>
              <a:rPr lang="en-US" sz="2799" b="true">
                <a:solidFill>
                  <a:srgbClr val="000000"/>
                </a:solidFill>
                <a:latin typeface="HK Grotesk Medium"/>
                <a:ea typeface="HK Grotesk Medium"/>
                <a:cs typeface="HK Grotesk Medium"/>
                <a:sym typeface="HK Grotesk Medium"/>
              </a:rPr>
              <a:t>- I is the current flowing through the resistor (in amperes),</a:t>
            </a:r>
          </a:p>
          <a:p>
            <a:pPr algn="l">
              <a:lnSpc>
                <a:spcPts val="3247"/>
              </a:lnSpc>
            </a:pPr>
          </a:p>
          <a:p>
            <a:pPr algn="l">
              <a:lnSpc>
                <a:spcPts val="3247"/>
              </a:lnSpc>
            </a:pPr>
            <a:r>
              <a:rPr lang="en-US" sz="2799" b="true">
                <a:solidFill>
                  <a:srgbClr val="000000"/>
                </a:solidFill>
                <a:latin typeface="HK Grotesk Medium"/>
                <a:ea typeface="HK Grotesk Medium"/>
                <a:cs typeface="HK Grotesk Medium"/>
                <a:sym typeface="HK Grotesk Medium"/>
              </a:rPr>
              <a:t>- R is the resistance of the resistor (in ohms).</a:t>
            </a:r>
          </a:p>
        </p:txBody>
      </p:sp>
      <p:sp>
        <p:nvSpPr>
          <p:cNvPr name="Freeform 15" id="15"/>
          <p:cNvSpPr/>
          <p:nvPr/>
        </p:nvSpPr>
        <p:spPr>
          <a:xfrm flipH="false" flipV="false" rot="0">
            <a:off x="11508969" y="5143500"/>
            <a:ext cx="5311733" cy="2655866"/>
          </a:xfrm>
          <a:custGeom>
            <a:avLst/>
            <a:gdLst/>
            <a:ahLst/>
            <a:cxnLst/>
            <a:rect r="r" b="b" t="t" l="l"/>
            <a:pathLst>
              <a:path h="2655866" w="5311733">
                <a:moveTo>
                  <a:pt x="0" y="0"/>
                </a:moveTo>
                <a:lnTo>
                  <a:pt x="5311733" y="0"/>
                </a:lnTo>
                <a:lnTo>
                  <a:pt x="5311733" y="2655866"/>
                </a:lnTo>
                <a:lnTo>
                  <a:pt x="0" y="2655866"/>
                </a:lnTo>
                <a:lnTo>
                  <a:pt x="0" y="0"/>
                </a:lnTo>
                <a:close/>
              </a:path>
            </a:pathLst>
          </a:custGeom>
          <a:blipFill>
            <a:blip r:embed="rId4"/>
            <a:stretch>
              <a:fillRect l="0" t="0" r="0" b="0"/>
            </a:stretch>
          </a:blipFill>
        </p:spPr>
      </p:sp>
      <p:sp>
        <p:nvSpPr>
          <p:cNvPr name="TextBox 16" id="16"/>
          <p:cNvSpPr txBox="true"/>
          <p:nvPr/>
        </p:nvSpPr>
        <p:spPr>
          <a:xfrm rot="0">
            <a:off x="6357098" y="1169482"/>
            <a:ext cx="5851308"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Ohm’s Law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1315186" y="2793047"/>
            <a:ext cx="4854803" cy="3428162"/>
          </a:xfrm>
          <a:custGeom>
            <a:avLst/>
            <a:gdLst/>
            <a:ahLst/>
            <a:cxnLst/>
            <a:rect r="r" b="b" t="t" l="l"/>
            <a:pathLst>
              <a:path h="3428162" w="4854803">
                <a:moveTo>
                  <a:pt x="0" y="0"/>
                </a:moveTo>
                <a:lnTo>
                  <a:pt x="4854803" y="0"/>
                </a:lnTo>
                <a:lnTo>
                  <a:pt x="4854803" y="3428162"/>
                </a:lnTo>
                <a:lnTo>
                  <a:pt x="0" y="3428162"/>
                </a:lnTo>
                <a:lnTo>
                  <a:pt x="0" y="0"/>
                </a:lnTo>
                <a:close/>
              </a:path>
            </a:pathLst>
          </a:custGeom>
          <a:blipFill>
            <a:blip r:embed="rId4"/>
            <a:stretch>
              <a:fillRect l="-14716" t="0" r="-19579" b="0"/>
            </a:stretch>
          </a:blipFill>
        </p:spPr>
      </p:sp>
      <p:sp>
        <p:nvSpPr>
          <p:cNvPr name="Freeform 15" id="15"/>
          <p:cNvSpPr/>
          <p:nvPr/>
        </p:nvSpPr>
        <p:spPr>
          <a:xfrm flipH="false" flipV="false" rot="0">
            <a:off x="11315186" y="5935472"/>
            <a:ext cx="4854803" cy="2927827"/>
          </a:xfrm>
          <a:custGeom>
            <a:avLst/>
            <a:gdLst/>
            <a:ahLst/>
            <a:cxnLst/>
            <a:rect r="r" b="b" t="t" l="l"/>
            <a:pathLst>
              <a:path h="2927827" w="4854803">
                <a:moveTo>
                  <a:pt x="0" y="0"/>
                </a:moveTo>
                <a:lnTo>
                  <a:pt x="4854803" y="0"/>
                </a:lnTo>
                <a:lnTo>
                  <a:pt x="4854803" y="2927827"/>
                </a:lnTo>
                <a:lnTo>
                  <a:pt x="0" y="2927827"/>
                </a:lnTo>
                <a:lnTo>
                  <a:pt x="0" y="0"/>
                </a:lnTo>
                <a:close/>
              </a:path>
            </a:pathLst>
          </a:custGeom>
          <a:blipFill>
            <a:blip r:embed="rId5"/>
            <a:stretch>
              <a:fillRect l="0" t="-31807" r="0" b="-31807"/>
            </a:stretch>
          </a:blipFill>
        </p:spPr>
      </p:sp>
      <p:sp>
        <p:nvSpPr>
          <p:cNvPr name="TextBox 16" id="16"/>
          <p:cNvSpPr txBox="true"/>
          <p:nvPr/>
        </p:nvSpPr>
        <p:spPr>
          <a:xfrm rot="0">
            <a:off x="2168836" y="2802572"/>
            <a:ext cx="7854328" cy="6275324"/>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KCL: The total current entering and leaving a node equals zero.</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KVL: The sum of potential differences (voltage) in a closed loop equals zero.</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Introduces the lumped circuit model, an idealized representation w</a:t>
            </a:r>
            <a:r>
              <a:rPr lang="en-US" b="true" sz="2799">
                <a:solidFill>
                  <a:srgbClr val="000000"/>
                </a:solidFill>
                <a:latin typeface="HK Grotesk Medium"/>
                <a:ea typeface="HK Grotesk Medium"/>
                <a:cs typeface="HK Grotesk Medium"/>
                <a:sym typeface="HK Grotesk Medium"/>
              </a:rPr>
              <a:t>here all parameters (e.g., resistance, reactance) are concentrated at discrete points.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Discusses the validity and potential misjudgments of Kirchhoff's laws due to testing equipment errors.</a:t>
            </a:r>
          </a:p>
          <a:p>
            <a:pPr algn="l">
              <a:lnSpc>
                <a:spcPts val="3247"/>
              </a:lnSpc>
            </a:pPr>
          </a:p>
        </p:txBody>
      </p:sp>
      <p:sp>
        <p:nvSpPr>
          <p:cNvPr name="TextBox 17" id="17"/>
          <p:cNvSpPr txBox="true"/>
          <p:nvPr/>
        </p:nvSpPr>
        <p:spPr>
          <a:xfrm rot="0">
            <a:off x="3553090" y="1216978"/>
            <a:ext cx="11459325"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Kirchhoff's Theorems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890353" y="4148795"/>
            <a:ext cx="7714872" cy="3025156"/>
          </a:xfrm>
          <a:custGeom>
            <a:avLst/>
            <a:gdLst/>
            <a:ahLst/>
            <a:cxnLst/>
            <a:rect r="r" b="b" t="t" l="l"/>
            <a:pathLst>
              <a:path h="3025156" w="7714872">
                <a:moveTo>
                  <a:pt x="0" y="0"/>
                </a:moveTo>
                <a:lnTo>
                  <a:pt x="7714872" y="0"/>
                </a:lnTo>
                <a:lnTo>
                  <a:pt x="7714872" y="3025156"/>
                </a:lnTo>
                <a:lnTo>
                  <a:pt x="0" y="3025156"/>
                </a:lnTo>
                <a:lnTo>
                  <a:pt x="0" y="0"/>
                </a:lnTo>
                <a:close/>
              </a:path>
            </a:pathLst>
          </a:custGeom>
          <a:blipFill>
            <a:blip r:embed="rId4"/>
            <a:stretch>
              <a:fillRect l="0" t="0" r="0" b="0"/>
            </a:stretch>
          </a:blipFill>
        </p:spPr>
      </p:sp>
      <p:sp>
        <p:nvSpPr>
          <p:cNvPr name="TextBox 15" id="15"/>
          <p:cNvSpPr txBox="true"/>
          <p:nvPr/>
        </p:nvSpPr>
        <p:spPr>
          <a:xfrm rot="0">
            <a:off x="2168836" y="2802572"/>
            <a:ext cx="6975164" cy="6243574"/>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Any linear circuit can be simplified into an equivalent voltage source with a series resistance (Thevenin) or a current source with a parallel resistance (Norton).</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Explains source transformation techniques for simplifying circuit analysis.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Applications include using the Superposition Principle, where the effect of each power source is analyzed independently.</a:t>
            </a:r>
          </a:p>
          <a:p>
            <a:pPr algn="l">
              <a:lnSpc>
                <a:spcPts val="3247"/>
              </a:lnSpc>
            </a:pPr>
          </a:p>
        </p:txBody>
      </p:sp>
      <p:sp>
        <p:nvSpPr>
          <p:cNvPr name="TextBox 16" id="16"/>
          <p:cNvSpPr txBox="true"/>
          <p:nvPr/>
        </p:nvSpPr>
        <p:spPr>
          <a:xfrm rot="0">
            <a:off x="2424850" y="1216978"/>
            <a:ext cx="14180375"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Thevenin-Norton Theorem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079350" y="4576887"/>
            <a:ext cx="12406805" cy="3948430"/>
          </a:xfrm>
          <a:prstGeom prst="rect">
            <a:avLst/>
          </a:prstGeom>
        </p:spPr>
        <p:txBody>
          <a:bodyPr anchor="t" rtlCol="false" tIns="0" lIns="0" bIns="0" rIns="0">
            <a:spAutoFit/>
          </a:bodyPr>
          <a:lstStyle/>
          <a:p>
            <a:pPr algn="l">
              <a:lnSpc>
                <a:spcPts val="3919"/>
              </a:lnSpc>
            </a:pPr>
            <a:r>
              <a:rPr lang="en-US" sz="2799" b="true">
                <a:solidFill>
                  <a:srgbClr val="000000"/>
                </a:solidFill>
                <a:latin typeface="HK Grotesk Medium"/>
                <a:ea typeface="HK Grotesk Medium"/>
                <a:cs typeface="HK Grotesk Medium"/>
                <a:sym typeface="HK Grotesk Medium"/>
              </a:rPr>
              <a:t>Digital systems process discrete signals, often converted from analog using ADCs. The binary system represents data as 0s and 1s, corresponding to voltage levels, simplifying data storage and transmission.</a:t>
            </a:r>
          </a:p>
          <a:p>
            <a:pPr algn="l">
              <a:lnSpc>
                <a:spcPts val="3919"/>
              </a:lnSpc>
            </a:pPr>
            <a:r>
              <a:rPr lang="en-US" sz="2799" b="true">
                <a:solidFill>
                  <a:srgbClr val="000000"/>
                </a:solidFill>
                <a:latin typeface="HK Grotesk Medium"/>
                <a:ea typeface="HK Grotesk Medium"/>
                <a:cs typeface="HK Grotesk Medium"/>
                <a:sym typeface="HK Grotesk Medium"/>
              </a:rPr>
              <a:t>Binary data is transmitted via serial (bit-by-bit) or parallel (all bits simultaneously) methods. Operations like binary addition and subtraction, along with coding systems like BCD and ASCII, enable efficient data processing and communication. Binary logic is the backbone of modern digital technology.</a:t>
            </a:r>
          </a:p>
          <a:p>
            <a:pPr algn="l">
              <a:lnSpc>
                <a:spcPts val="3919"/>
              </a:lnSpc>
            </a:pPr>
          </a:p>
        </p:txBody>
      </p:sp>
      <p:sp>
        <p:nvSpPr>
          <p:cNvPr name="TextBox 15" id="15"/>
          <p:cNvSpPr txBox="true"/>
          <p:nvPr/>
        </p:nvSpPr>
        <p:spPr>
          <a:xfrm rot="0">
            <a:off x="3895499" y="1141428"/>
            <a:ext cx="10497003"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2-Logic Algebra and Simplification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06819" y="1400052"/>
            <a:ext cx="13874363"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HK Grotesk Bold"/>
                <a:ea typeface="HK Grotesk Bold"/>
                <a:cs typeface="HK Grotesk Bold"/>
                <a:sym typeface="HK Grotesk Bold"/>
              </a:rPr>
              <a:t>Content</a:t>
            </a:r>
          </a:p>
        </p:txBody>
      </p:sp>
      <p:grpSp>
        <p:nvGrpSpPr>
          <p:cNvPr name="Group 15" id="15"/>
          <p:cNvGrpSpPr/>
          <p:nvPr/>
        </p:nvGrpSpPr>
        <p:grpSpPr>
          <a:xfrm rot="0">
            <a:off x="2206819" y="3252536"/>
            <a:ext cx="13963171" cy="1047750"/>
            <a:chOff x="0" y="0"/>
            <a:chExt cx="18617561" cy="1397000"/>
          </a:xfrm>
        </p:grpSpPr>
        <p:grpSp>
          <p:nvGrpSpPr>
            <p:cNvPr name="Group 16" id="16"/>
            <p:cNvGrpSpPr/>
            <p:nvPr/>
          </p:nvGrpSpPr>
          <p:grpSpPr>
            <a:xfrm rot="0">
              <a:off x="0" y="0"/>
              <a:ext cx="18617561" cy="1397000"/>
              <a:chOff x="0" y="0"/>
              <a:chExt cx="3677543" cy="275951"/>
            </a:xfrm>
          </p:grpSpPr>
          <p:sp>
            <p:nvSpPr>
              <p:cNvPr name="Freeform 17" id="1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18" id="1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Binary Logic Variables and Operations</a:t>
              </a:r>
            </a:p>
          </p:txBody>
        </p:sp>
      </p:grpSp>
      <p:grpSp>
        <p:nvGrpSpPr>
          <p:cNvPr name="Group 20" id="20"/>
          <p:cNvGrpSpPr/>
          <p:nvPr/>
        </p:nvGrpSpPr>
        <p:grpSpPr>
          <a:xfrm rot="0">
            <a:off x="2206819" y="5028427"/>
            <a:ext cx="13963171" cy="1047750"/>
            <a:chOff x="0" y="0"/>
            <a:chExt cx="18617561" cy="1397000"/>
          </a:xfrm>
        </p:grpSpPr>
        <p:grpSp>
          <p:nvGrpSpPr>
            <p:cNvPr name="Group 21" id="21"/>
            <p:cNvGrpSpPr/>
            <p:nvPr/>
          </p:nvGrpSpPr>
          <p:grpSpPr>
            <a:xfrm rot="0">
              <a:off x="0" y="0"/>
              <a:ext cx="18617561" cy="1397000"/>
              <a:chOff x="0" y="0"/>
              <a:chExt cx="3677543" cy="275951"/>
            </a:xfrm>
          </p:grpSpPr>
          <p:sp>
            <p:nvSpPr>
              <p:cNvPr name="Freeform 22" id="2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3" id="2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Compound Logic Operations</a:t>
              </a:r>
            </a:p>
          </p:txBody>
        </p:sp>
      </p:grpSp>
      <p:grpSp>
        <p:nvGrpSpPr>
          <p:cNvPr name="Group 25" id="25"/>
          <p:cNvGrpSpPr/>
          <p:nvPr/>
        </p:nvGrpSpPr>
        <p:grpSpPr>
          <a:xfrm rot="0">
            <a:off x="2206819" y="6804319"/>
            <a:ext cx="13963171" cy="1047750"/>
            <a:chOff x="0" y="0"/>
            <a:chExt cx="18617561" cy="1397000"/>
          </a:xfrm>
        </p:grpSpPr>
        <p:grpSp>
          <p:nvGrpSpPr>
            <p:cNvPr name="Group 26" id="26"/>
            <p:cNvGrpSpPr/>
            <p:nvPr/>
          </p:nvGrpSpPr>
          <p:grpSpPr>
            <a:xfrm rot="0">
              <a:off x="0" y="0"/>
              <a:ext cx="18617561" cy="1397000"/>
              <a:chOff x="0" y="0"/>
              <a:chExt cx="3677543" cy="275951"/>
            </a:xfrm>
          </p:grpSpPr>
          <p:sp>
            <p:nvSpPr>
              <p:cNvPr name="Freeform 27" id="2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8" id="2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Logical Functions and Representations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06819" y="1400052"/>
            <a:ext cx="13874363"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HK Grotesk Bold"/>
                <a:ea typeface="HK Grotesk Bold"/>
                <a:cs typeface="HK Grotesk Bold"/>
                <a:sym typeface="HK Grotesk Bold"/>
              </a:rPr>
              <a:t>Content</a:t>
            </a:r>
          </a:p>
        </p:txBody>
      </p:sp>
      <p:grpSp>
        <p:nvGrpSpPr>
          <p:cNvPr name="Group 15" id="15"/>
          <p:cNvGrpSpPr/>
          <p:nvPr/>
        </p:nvGrpSpPr>
        <p:grpSpPr>
          <a:xfrm rot="0">
            <a:off x="2206819" y="3252536"/>
            <a:ext cx="13963171" cy="1047750"/>
            <a:chOff x="0" y="0"/>
            <a:chExt cx="18617561" cy="1397000"/>
          </a:xfrm>
        </p:grpSpPr>
        <p:grpSp>
          <p:nvGrpSpPr>
            <p:cNvPr name="Group 16" id="16"/>
            <p:cNvGrpSpPr/>
            <p:nvPr/>
          </p:nvGrpSpPr>
          <p:grpSpPr>
            <a:xfrm rot="0">
              <a:off x="0" y="0"/>
              <a:ext cx="18617561" cy="1397000"/>
              <a:chOff x="0" y="0"/>
              <a:chExt cx="3677543" cy="275951"/>
            </a:xfrm>
          </p:grpSpPr>
          <p:sp>
            <p:nvSpPr>
              <p:cNvPr name="Freeform 17" id="1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18" id="1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Fundamental Theorems and Rules of Logical Algebra</a:t>
              </a:r>
            </a:p>
          </p:txBody>
        </p:sp>
      </p:grpSp>
      <p:grpSp>
        <p:nvGrpSpPr>
          <p:cNvPr name="Group 20" id="20"/>
          <p:cNvGrpSpPr/>
          <p:nvPr/>
        </p:nvGrpSpPr>
        <p:grpSpPr>
          <a:xfrm rot="0">
            <a:off x="2206819" y="5028427"/>
            <a:ext cx="13963171" cy="1047750"/>
            <a:chOff x="0" y="0"/>
            <a:chExt cx="18617561" cy="1397000"/>
          </a:xfrm>
        </p:grpSpPr>
        <p:grpSp>
          <p:nvGrpSpPr>
            <p:cNvPr name="Group 21" id="21"/>
            <p:cNvGrpSpPr/>
            <p:nvPr/>
          </p:nvGrpSpPr>
          <p:grpSpPr>
            <a:xfrm rot="0">
              <a:off x="0" y="0"/>
              <a:ext cx="18617561" cy="1397000"/>
              <a:chOff x="0" y="0"/>
              <a:chExt cx="3677543" cy="275951"/>
            </a:xfrm>
          </p:grpSpPr>
          <p:sp>
            <p:nvSpPr>
              <p:cNvPr name="Freeform 22" id="2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3" id="2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Simplification of Logical Functions</a:t>
              </a:r>
            </a:p>
          </p:txBody>
        </p:sp>
      </p:grpSp>
      <p:grpSp>
        <p:nvGrpSpPr>
          <p:cNvPr name="Group 25" id="25"/>
          <p:cNvGrpSpPr/>
          <p:nvPr/>
        </p:nvGrpSpPr>
        <p:grpSpPr>
          <a:xfrm rot="0">
            <a:off x="2206819" y="6804319"/>
            <a:ext cx="13963171" cy="1047750"/>
            <a:chOff x="0" y="0"/>
            <a:chExt cx="18617561" cy="1397000"/>
          </a:xfrm>
        </p:grpSpPr>
        <p:grpSp>
          <p:nvGrpSpPr>
            <p:cNvPr name="Group 26" id="26"/>
            <p:cNvGrpSpPr/>
            <p:nvPr/>
          </p:nvGrpSpPr>
          <p:grpSpPr>
            <a:xfrm rot="0">
              <a:off x="0" y="0"/>
              <a:ext cx="18617561" cy="1397000"/>
              <a:chOff x="0" y="0"/>
              <a:chExt cx="3677543" cy="275951"/>
            </a:xfrm>
          </p:grpSpPr>
          <p:sp>
            <p:nvSpPr>
              <p:cNvPr name="Freeform 27" id="2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8" id="2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Karnaugh Maps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0615744" y="4808357"/>
            <a:ext cx="5411161" cy="3501515"/>
          </a:xfrm>
          <a:custGeom>
            <a:avLst/>
            <a:gdLst/>
            <a:ahLst/>
            <a:cxnLst/>
            <a:rect r="r" b="b" t="t" l="l"/>
            <a:pathLst>
              <a:path h="3501515" w="5411161">
                <a:moveTo>
                  <a:pt x="0" y="0"/>
                </a:moveTo>
                <a:lnTo>
                  <a:pt x="5411161" y="0"/>
                </a:lnTo>
                <a:lnTo>
                  <a:pt x="5411161" y="3501516"/>
                </a:lnTo>
                <a:lnTo>
                  <a:pt x="0" y="3501516"/>
                </a:lnTo>
                <a:lnTo>
                  <a:pt x="0" y="0"/>
                </a:lnTo>
                <a:close/>
              </a:path>
            </a:pathLst>
          </a:custGeom>
          <a:blipFill>
            <a:blip r:embed="rId4"/>
            <a:stretch>
              <a:fillRect l="0" t="-30572" r="-75470" b="-22184"/>
            </a:stretch>
          </a:blipFill>
        </p:spPr>
      </p:sp>
      <p:sp>
        <p:nvSpPr>
          <p:cNvPr name="Freeform 15" id="15"/>
          <p:cNvSpPr/>
          <p:nvPr/>
        </p:nvSpPr>
        <p:spPr>
          <a:xfrm flipH="false" flipV="false" rot="0">
            <a:off x="16026905" y="4808357"/>
            <a:ext cx="673132" cy="3088861"/>
          </a:xfrm>
          <a:custGeom>
            <a:avLst/>
            <a:gdLst/>
            <a:ahLst/>
            <a:cxnLst/>
            <a:rect r="r" b="b" t="t" l="l"/>
            <a:pathLst>
              <a:path h="3088861" w="673132">
                <a:moveTo>
                  <a:pt x="0" y="0"/>
                </a:moveTo>
                <a:lnTo>
                  <a:pt x="673132" y="0"/>
                </a:lnTo>
                <a:lnTo>
                  <a:pt x="673132" y="3088861"/>
                </a:lnTo>
                <a:lnTo>
                  <a:pt x="0" y="3088861"/>
                </a:lnTo>
                <a:lnTo>
                  <a:pt x="0" y="0"/>
                </a:lnTo>
                <a:close/>
              </a:path>
            </a:pathLst>
          </a:custGeom>
          <a:blipFill>
            <a:blip r:embed="rId4"/>
            <a:stretch>
              <a:fillRect l="-927705" t="-34657" r="-382862" b="-38508"/>
            </a:stretch>
          </a:blipFill>
        </p:spPr>
      </p:sp>
      <p:sp>
        <p:nvSpPr>
          <p:cNvPr name="TextBox 16" id="16"/>
          <p:cNvSpPr txBox="true"/>
          <p:nvPr/>
        </p:nvSpPr>
        <p:spPr>
          <a:xfrm rot="0">
            <a:off x="2424850" y="4621276"/>
            <a:ext cx="7854328" cy="4637024"/>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Logic algebra operates on binary variables (0 and 1) to represent logical states. Key operations include:</a:t>
            </a: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AND (·): Output is 1 only when both inputs are 1.</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OR (+): Output is 1 when any input is 1.</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NOT (¬): Inverts the input (0 becomes 1, and 1 becomes 0).</a:t>
            </a:r>
          </a:p>
          <a:p>
            <a:pPr algn="l">
              <a:lnSpc>
                <a:spcPts val="3247"/>
              </a:lnSpc>
            </a:pPr>
          </a:p>
        </p:txBody>
      </p:sp>
      <p:sp>
        <p:nvSpPr>
          <p:cNvPr name="TextBox 17" id="17"/>
          <p:cNvSpPr txBox="true"/>
          <p:nvPr/>
        </p:nvSpPr>
        <p:spPr>
          <a:xfrm rot="0">
            <a:off x="2424850" y="1216978"/>
            <a:ext cx="14180375"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Binary Logic Variables and Operations</a:t>
            </a:r>
          </a:p>
        </p:txBody>
      </p:sp>
      <p:sp>
        <p:nvSpPr>
          <p:cNvPr name="Freeform 18" id="18"/>
          <p:cNvSpPr/>
          <p:nvPr/>
        </p:nvSpPr>
        <p:spPr>
          <a:xfrm flipH="false" flipV="false" rot="0">
            <a:off x="15381994" y="7897218"/>
            <a:ext cx="1318042" cy="412654"/>
          </a:xfrm>
          <a:custGeom>
            <a:avLst/>
            <a:gdLst/>
            <a:ahLst/>
            <a:cxnLst/>
            <a:rect r="r" b="b" t="t" l="l"/>
            <a:pathLst>
              <a:path h="412654" w="1318042">
                <a:moveTo>
                  <a:pt x="0" y="0"/>
                </a:moveTo>
                <a:lnTo>
                  <a:pt x="1318043" y="0"/>
                </a:lnTo>
                <a:lnTo>
                  <a:pt x="1318043" y="412655"/>
                </a:lnTo>
                <a:lnTo>
                  <a:pt x="0" y="412655"/>
                </a:lnTo>
                <a:lnTo>
                  <a:pt x="0" y="0"/>
                </a:lnTo>
                <a:close/>
              </a:path>
            </a:pathLst>
          </a:custGeom>
          <a:blipFill>
            <a:blip r:embed="rId5"/>
            <a:stretch>
              <a:fillRect l="-509882" t="-990354" r="-110502" b="-20585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0023164" y="3881119"/>
            <a:ext cx="2278907" cy="3247456"/>
          </a:xfrm>
          <a:custGeom>
            <a:avLst/>
            <a:gdLst/>
            <a:ahLst/>
            <a:cxnLst/>
            <a:rect r="r" b="b" t="t" l="l"/>
            <a:pathLst>
              <a:path h="3247456" w="2278907">
                <a:moveTo>
                  <a:pt x="0" y="0"/>
                </a:moveTo>
                <a:lnTo>
                  <a:pt x="2278908" y="0"/>
                </a:lnTo>
                <a:lnTo>
                  <a:pt x="2278908" y="3247456"/>
                </a:lnTo>
                <a:lnTo>
                  <a:pt x="0" y="3247456"/>
                </a:lnTo>
                <a:lnTo>
                  <a:pt x="0" y="0"/>
                </a:lnTo>
                <a:close/>
              </a:path>
            </a:pathLst>
          </a:custGeom>
          <a:blipFill>
            <a:blip r:embed="rId4"/>
            <a:stretch>
              <a:fillRect l="-100909" t="-39069" r="-215737" b="-25639"/>
            </a:stretch>
          </a:blipFill>
        </p:spPr>
      </p:sp>
      <p:sp>
        <p:nvSpPr>
          <p:cNvPr name="Freeform 15" id="15"/>
          <p:cNvSpPr/>
          <p:nvPr/>
        </p:nvSpPr>
        <p:spPr>
          <a:xfrm flipH="false" flipV="false" rot="0">
            <a:off x="12192000" y="3881119"/>
            <a:ext cx="891200" cy="2853239"/>
          </a:xfrm>
          <a:custGeom>
            <a:avLst/>
            <a:gdLst/>
            <a:ahLst/>
            <a:cxnLst/>
            <a:rect r="r" b="b" t="t" l="l"/>
            <a:pathLst>
              <a:path h="2853239" w="891200">
                <a:moveTo>
                  <a:pt x="0" y="0"/>
                </a:moveTo>
                <a:lnTo>
                  <a:pt x="891200" y="0"/>
                </a:lnTo>
                <a:lnTo>
                  <a:pt x="891200" y="2853238"/>
                </a:lnTo>
                <a:lnTo>
                  <a:pt x="0" y="2853238"/>
                </a:lnTo>
                <a:lnTo>
                  <a:pt x="0" y="0"/>
                </a:lnTo>
                <a:close/>
              </a:path>
            </a:pathLst>
          </a:custGeom>
          <a:blipFill>
            <a:blip r:embed="rId5"/>
            <a:stretch>
              <a:fillRect l="-605053" t="-45082" r="-360362" b="-42382"/>
            </a:stretch>
          </a:blipFill>
        </p:spPr>
      </p:sp>
      <p:sp>
        <p:nvSpPr>
          <p:cNvPr name="Freeform 16" id="16"/>
          <p:cNvSpPr/>
          <p:nvPr/>
        </p:nvSpPr>
        <p:spPr>
          <a:xfrm flipH="false" flipV="false" rot="0">
            <a:off x="13083200" y="3710751"/>
            <a:ext cx="2576273" cy="3029388"/>
          </a:xfrm>
          <a:custGeom>
            <a:avLst/>
            <a:gdLst/>
            <a:ahLst/>
            <a:cxnLst/>
            <a:rect r="r" b="b" t="t" l="l"/>
            <a:pathLst>
              <a:path h="3029388" w="2576273">
                <a:moveTo>
                  <a:pt x="0" y="0"/>
                </a:moveTo>
                <a:lnTo>
                  <a:pt x="2576274" y="0"/>
                </a:lnTo>
                <a:lnTo>
                  <a:pt x="2576274" y="3029389"/>
                </a:lnTo>
                <a:lnTo>
                  <a:pt x="0" y="3029389"/>
                </a:lnTo>
                <a:lnTo>
                  <a:pt x="0" y="0"/>
                </a:lnTo>
                <a:close/>
              </a:path>
            </a:pathLst>
          </a:custGeom>
          <a:blipFill>
            <a:blip r:embed="rId5"/>
            <a:stretch>
              <a:fillRect l="-268555" t="-36646" r="0" b="-39918"/>
            </a:stretch>
          </a:blipFill>
        </p:spPr>
      </p:sp>
      <p:sp>
        <p:nvSpPr>
          <p:cNvPr name="Freeform 17" id="17"/>
          <p:cNvSpPr/>
          <p:nvPr/>
        </p:nvSpPr>
        <p:spPr>
          <a:xfrm flipH="false" flipV="false" rot="0">
            <a:off x="12192000" y="6734357"/>
            <a:ext cx="3467474" cy="394218"/>
          </a:xfrm>
          <a:custGeom>
            <a:avLst/>
            <a:gdLst/>
            <a:ahLst/>
            <a:cxnLst/>
            <a:rect r="r" b="b" t="t" l="l"/>
            <a:pathLst>
              <a:path h="394218" w="3467474">
                <a:moveTo>
                  <a:pt x="0" y="0"/>
                </a:moveTo>
                <a:lnTo>
                  <a:pt x="3467474" y="0"/>
                </a:lnTo>
                <a:lnTo>
                  <a:pt x="3467474" y="394218"/>
                </a:lnTo>
                <a:lnTo>
                  <a:pt x="0" y="394218"/>
                </a:lnTo>
                <a:lnTo>
                  <a:pt x="0" y="0"/>
                </a:lnTo>
                <a:close/>
              </a:path>
            </a:pathLst>
          </a:custGeom>
          <a:blipFill>
            <a:blip r:embed="rId5"/>
            <a:stretch>
              <a:fillRect l="-156080" t="-1040959" r="-17749" b="-215864"/>
            </a:stretch>
          </a:blipFill>
        </p:spPr>
      </p:sp>
      <p:sp>
        <p:nvSpPr>
          <p:cNvPr name="TextBox 18" id="18"/>
          <p:cNvSpPr txBox="true"/>
          <p:nvPr/>
        </p:nvSpPr>
        <p:spPr>
          <a:xfrm rot="0">
            <a:off x="2168836" y="3720276"/>
            <a:ext cx="7854328" cy="340829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NAND: Inverts the output of AND.</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NOR: Inverts the output of OR.</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XOR: Output is 1 when inputs differ.</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XNOR: Output is 1 when inputs are the same.</a:t>
            </a:r>
          </a:p>
          <a:p>
            <a:pPr algn="l">
              <a:lnSpc>
                <a:spcPts val="3247"/>
              </a:lnSpc>
            </a:pPr>
          </a:p>
        </p:txBody>
      </p:sp>
      <p:sp>
        <p:nvSpPr>
          <p:cNvPr name="TextBox 19" id="19"/>
          <p:cNvSpPr txBox="true"/>
          <p:nvPr/>
        </p:nvSpPr>
        <p:spPr>
          <a:xfrm rot="0">
            <a:off x="1726775" y="1216978"/>
            <a:ext cx="14834450"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Compound Logic Operations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581103" y="4791769"/>
            <a:ext cx="7292578" cy="3399731"/>
          </a:xfrm>
          <a:custGeom>
            <a:avLst/>
            <a:gdLst/>
            <a:ahLst/>
            <a:cxnLst/>
            <a:rect r="r" b="b" t="t" l="l"/>
            <a:pathLst>
              <a:path h="3399731" w="7292578">
                <a:moveTo>
                  <a:pt x="0" y="0"/>
                </a:moveTo>
                <a:lnTo>
                  <a:pt x="7292578" y="0"/>
                </a:lnTo>
                <a:lnTo>
                  <a:pt x="7292578" y="3399731"/>
                </a:lnTo>
                <a:lnTo>
                  <a:pt x="0" y="3399731"/>
                </a:lnTo>
                <a:lnTo>
                  <a:pt x="0" y="0"/>
                </a:lnTo>
                <a:close/>
              </a:path>
            </a:pathLst>
          </a:custGeom>
          <a:blipFill>
            <a:blip r:embed="rId4"/>
            <a:stretch>
              <a:fillRect l="-20696" t="0" r="0" b="0"/>
            </a:stretch>
          </a:blipFill>
        </p:spPr>
      </p:sp>
      <p:sp>
        <p:nvSpPr>
          <p:cNvPr name="TextBox 15" id="15"/>
          <p:cNvSpPr txBox="true"/>
          <p:nvPr/>
        </p:nvSpPr>
        <p:spPr>
          <a:xfrm rot="0">
            <a:off x="1726775" y="4644667"/>
            <a:ext cx="7854328" cy="434174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Truth Tables: Show output for all input combinations.</a:t>
            </a: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Logical Expressions: Use algebra to express relationships </a:t>
            </a:r>
          </a:p>
          <a:p>
            <a:pPr algn="l">
              <a:lnSpc>
                <a:spcPts val="4199"/>
              </a:lnSpc>
            </a:pPr>
            <a:r>
              <a:rPr lang="en-US" sz="2799" b="true">
                <a:solidFill>
                  <a:srgbClr val="000000"/>
                </a:solidFill>
                <a:latin typeface="HK Grotesk Medium"/>
                <a:ea typeface="HK Grotesk Medium"/>
                <a:cs typeface="HK Grotesk Medium"/>
                <a:sym typeface="HK Grotesk Medium"/>
              </a:rPr>
              <a:t>      </a:t>
            </a:r>
            <a:r>
              <a:rPr lang="en-US" sz="2799" b="true">
                <a:solidFill>
                  <a:srgbClr val="000000"/>
                </a:solidFill>
                <a:latin typeface="HK Grotesk Medium"/>
                <a:ea typeface="HK Grotesk Medium"/>
                <a:cs typeface="HK Grotesk Medium"/>
                <a:sym typeface="HK Grotesk Medium"/>
              </a:rPr>
              <a:t>(e.g., L=AB+BC).</a:t>
            </a: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Logical Diagrams: Represent functions using logic gates (AND, OR, NOT).</a:t>
            </a: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Waveform Diagrams: Display time-based signal outputs.</a:t>
            </a:r>
          </a:p>
          <a:p>
            <a:pPr algn="l">
              <a:lnSpc>
                <a:spcPts val="3247"/>
              </a:lnSpc>
            </a:pPr>
          </a:p>
        </p:txBody>
      </p:sp>
      <p:sp>
        <p:nvSpPr>
          <p:cNvPr name="TextBox 16" id="16"/>
          <p:cNvSpPr txBox="true"/>
          <p:nvPr/>
        </p:nvSpPr>
        <p:spPr>
          <a:xfrm rot="0">
            <a:off x="1726775" y="1216978"/>
            <a:ext cx="12532330"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Logical Functions and Representations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423661" y="5108797"/>
            <a:ext cx="7477968" cy="2834924"/>
          </a:xfrm>
          <a:custGeom>
            <a:avLst/>
            <a:gdLst/>
            <a:ahLst/>
            <a:cxnLst/>
            <a:rect r="r" b="b" t="t" l="l"/>
            <a:pathLst>
              <a:path h="2834924" w="7477968">
                <a:moveTo>
                  <a:pt x="0" y="0"/>
                </a:moveTo>
                <a:lnTo>
                  <a:pt x="7477969" y="0"/>
                </a:lnTo>
                <a:lnTo>
                  <a:pt x="7477969" y="2834924"/>
                </a:lnTo>
                <a:lnTo>
                  <a:pt x="0" y="2834924"/>
                </a:lnTo>
                <a:lnTo>
                  <a:pt x="0" y="0"/>
                </a:lnTo>
                <a:close/>
              </a:path>
            </a:pathLst>
          </a:custGeom>
          <a:blipFill>
            <a:blip r:embed="rId4"/>
            <a:stretch>
              <a:fillRect l="0" t="-55776" r="0" b="-22465"/>
            </a:stretch>
          </a:blipFill>
        </p:spPr>
      </p:sp>
      <p:sp>
        <p:nvSpPr>
          <p:cNvPr name="TextBox 15" id="15"/>
          <p:cNvSpPr txBox="true"/>
          <p:nvPr/>
        </p:nvSpPr>
        <p:spPr>
          <a:xfrm rot="0">
            <a:off x="1726775" y="4644667"/>
            <a:ext cx="7854328" cy="425919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Laws:</a:t>
            </a: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Commutative: A+B=B+A</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Associative: (A+B)+C=A+(B+C)</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Distributive: A(B+C)=AB+AC</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Simplification Rules: Use algebraic laws to simplify logic expressions.</a:t>
            </a:r>
          </a:p>
          <a:p>
            <a:pPr algn="l">
              <a:lnSpc>
                <a:spcPts val="3247"/>
              </a:lnSpc>
            </a:pPr>
          </a:p>
        </p:txBody>
      </p:sp>
      <p:sp>
        <p:nvSpPr>
          <p:cNvPr name="TextBox 16" id="16"/>
          <p:cNvSpPr txBox="true"/>
          <p:nvPr/>
        </p:nvSpPr>
        <p:spPr>
          <a:xfrm rot="0">
            <a:off x="1726775" y="1216978"/>
            <a:ext cx="15393773"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Fundamental Theorems and Rules of Logical Algebra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333180" y="4708614"/>
            <a:ext cx="6442774" cy="334479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Algebraic Method: Apply laws like distributive and absorption to reduce expressions.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Karnaugh Map: A graphical method to simplify logic functions by grouping adjacent 1s.</a:t>
            </a:r>
          </a:p>
          <a:p>
            <a:pPr algn="l">
              <a:lnSpc>
                <a:spcPts val="3247"/>
              </a:lnSpc>
            </a:pPr>
          </a:p>
        </p:txBody>
      </p:sp>
      <p:sp>
        <p:nvSpPr>
          <p:cNvPr name="TextBox 15" id="15"/>
          <p:cNvSpPr txBox="true"/>
          <p:nvPr/>
        </p:nvSpPr>
        <p:spPr>
          <a:xfrm rot="0">
            <a:off x="2333180" y="1121056"/>
            <a:ext cx="12532330"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Simplification of Logical Functions</a:t>
            </a:r>
          </a:p>
        </p:txBody>
      </p:sp>
      <p:sp>
        <p:nvSpPr>
          <p:cNvPr name="Freeform 16" id="16"/>
          <p:cNvSpPr/>
          <p:nvPr/>
        </p:nvSpPr>
        <p:spPr>
          <a:xfrm flipH="false" flipV="false" rot="0">
            <a:off x="9144000" y="4699089"/>
            <a:ext cx="7301870" cy="2943928"/>
          </a:xfrm>
          <a:custGeom>
            <a:avLst/>
            <a:gdLst/>
            <a:ahLst/>
            <a:cxnLst/>
            <a:rect r="r" b="b" t="t" l="l"/>
            <a:pathLst>
              <a:path h="2943928" w="7301870">
                <a:moveTo>
                  <a:pt x="0" y="0"/>
                </a:moveTo>
                <a:lnTo>
                  <a:pt x="7301870" y="0"/>
                </a:lnTo>
                <a:lnTo>
                  <a:pt x="7301870" y="2943929"/>
                </a:lnTo>
                <a:lnTo>
                  <a:pt x="0" y="2943929"/>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599345" y="3726626"/>
            <a:ext cx="8095026" cy="4084510"/>
          </a:xfrm>
          <a:custGeom>
            <a:avLst/>
            <a:gdLst/>
            <a:ahLst/>
            <a:cxnLst/>
            <a:rect r="r" b="b" t="t" l="l"/>
            <a:pathLst>
              <a:path h="4084510" w="8095026">
                <a:moveTo>
                  <a:pt x="0" y="0"/>
                </a:moveTo>
                <a:lnTo>
                  <a:pt x="8095025" y="0"/>
                </a:lnTo>
                <a:lnTo>
                  <a:pt x="8095025" y="4084510"/>
                </a:lnTo>
                <a:lnTo>
                  <a:pt x="0" y="4084510"/>
                </a:lnTo>
                <a:lnTo>
                  <a:pt x="0" y="0"/>
                </a:lnTo>
                <a:close/>
              </a:path>
            </a:pathLst>
          </a:custGeom>
          <a:blipFill>
            <a:blip r:embed="rId4"/>
            <a:stretch>
              <a:fillRect l="0" t="0" r="0" b="0"/>
            </a:stretch>
          </a:blipFill>
        </p:spPr>
      </p:sp>
      <p:sp>
        <p:nvSpPr>
          <p:cNvPr name="TextBox 15" id="15"/>
          <p:cNvSpPr txBox="true"/>
          <p:nvPr/>
        </p:nvSpPr>
        <p:spPr>
          <a:xfrm rot="0">
            <a:off x="2398226" y="3736151"/>
            <a:ext cx="5605412" cy="419569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Visualize all min terms of variables in a grid.</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Group logically adjacent terms to simplify functions.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Examples: Two-variable, three-variable, and four-variable maps.</a:t>
            </a:r>
          </a:p>
          <a:p>
            <a:pPr algn="l">
              <a:lnSpc>
                <a:spcPts val="3247"/>
              </a:lnSpc>
            </a:pPr>
          </a:p>
        </p:txBody>
      </p:sp>
      <p:sp>
        <p:nvSpPr>
          <p:cNvPr name="TextBox 16" id="16"/>
          <p:cNvSpPr txBox="true"/>
          <p:nvPr/>
        </p:nvSpPr>
        <p:spPr>
          <a:xfrm rot="0">
            <a:off x="4379509" y="1216978"/>
            <a:ext cx="8439672"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Karnaugh Maps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929184" y="4608861"/>
            <a:ext cx="12429633" cy="3948430"/>
          </a:xfrm>
          <a:prstGeom prst="rect">
            <a:avLst/>
          </a:prstGeom>
        </p:spPr>
        <p:txBody>
          <a:bodyPr anchor="t" rtlCol="false" tIns="0" lIns="0" bIns="0" rIns="0">
            <a:spAutoFit/>
          </a:bodyPr>
          <a:lstStyle/>
          <a:p>
            <a:pPr algn="l">
              <a:lnSpc>
                <a:spcPts val="3919"/>
              </a:lnSpc>
            </a:pPr>
            <a:r>
              <a:rPr lang="en-US" sz="2799" b="true">
                <a:solidFill>
                  <a:srgbClr val="000000"/>
                </a:solidFill>
                <a:latin typeface="HK Grotesk Medium"/>
                <a:ea typeface="HK Grotesk Medium"/>
                <a:cs typeface="HK Grotesk Medium"/>
                <a:sym typeface="HK Grotesk Medium"/>
              </a:rPr>
              <a:t>Digital systems process discrete signals, often converted from analog using ADCs. The binary system represents data as 0s and 1s, corresponding to voltage levels, simplifying data storage and transmission.</a:t>
            </a:r>
          </a:p>
          <a:p>
            <a:pPr algn="l">
              <a:lnSpc>
                <a:spcPts val="3919"/>
              </a:lnSpc>
            </a:pPr>
            <a:r>
              <a:rPr lang="en-US" sz="2799" b="true">
                <a:solidFill>
                  <a:srgbClr val="000000"/>
                </a:solidFill>
                <a:latin typeface="HK Grotesk Medium"/>
                <a:ea typeface="HK Grotesk Medium"/>
                <a:cs typeface="HK Grotesk Medium"/>
                <a:sym typeface="HK Grotesk Medium"/>
              </a:rPr>
              <a:t>Binary data is transmitted via serial (bit-by-bit) or parallel (all bits simultaneously) methods. Operations like binary addition and subtraction, along with coding systems like BCD and ASCII, enable efficient data processing and communication. Binary logic is the backbone of modern digital technology.</a:t>
            </a:r>
          </a:p>
          <a:p>
            <a:pPr algn="l">
              <a:lnSpc>
                <a:spcPts val="3919"/>
              </a:lnSpc>
            </a:pPr>
          </a:p>
        </p:txBody>
      </p:sp>
      <p:sp>
        <p:nvSpPr>
          <p:cNvPr name="TextBox 15" id="15"/>
          <p:cNvSpPr txBox="true"/>
          <p:nvPr/>
        </p:nvSpPr>
        <p:spPr>
          <a:xfrm rot="0">
            <a:off x="2863315" y="1400052"/>
            <a:ext cx="12561370"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3-Digital Signal Systems and Binary Systems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06819" y="1400052"/>
            <a:ext cx="13874363"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HK Grotesk Bold"/>
                <a:ea typeface="HK Grotesk Bold"/>
                <a:cs typeface="HK Grotesk Bold"/>
                <a:sym typeface="HK Grotesk Bold"/>
              </a:rPr>
              <a:t>Content</a:t>
            </a:r>
          </a:p>
        </p:txBody>
      </p:sp>
      <p:grpSp>
        <p:nvGrpSpPr>
          <p:cNvPr name="Group 15" id="15"/>
          <p:cNvGrpSpPr/>
          <p:nvPr/>
        </p:nvGrpSpPr>
        <p:grpSpPr>
          <a:xfrm rot="0">
            <a:off x="2206819" y="3252536"/>
            <a:ext cx="13963171" cy="1047750"/>
            <a:chOff x="0" y="0"/>
            <a:chExt cx="18617561" cy="1397000"/>
          </a:xfrm>
        </p:grpSpPr>
        <p:grpSp>
          <p:nvGrpSpPr>
            <p:cNvPr name="Group 16" id="16"/>
            <p:cNvGrpSpPr/>
            <p:nvPr/>
          </p:nvGrpSpPr>
          <p:grpSpPr>
            <a:xfrm rot="0">
              <a:off x="0" y="0"/>
              <a:ext cx="18617561" cy="1397000"/>
              <a:chOff x="0" y="0"/>
              <a:chExt cx="3677543" cy="275951"/>
            </a:xfrm>
          </p:grpSpPr>
          <p:sp>
            <p:nvSpPr>
              <p:cNvPr name="Freeform 17" id="1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18" id="1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Introduction to Digital and Analog Signals</a:t>
              </a:r>
            </a:p>
          </p:txBody>
        </p:sp>
      </p:grpSp>
      <p:grpSp>
        <p:nvGrpSpPr>
          <p:cNvPr name="Group 20" id="20"/>
          <p:cNvGrpSpPr/>
          <p:nvPr/>
        </p:nvGrpSpPr>
        <p:grpSpPr>
          <a:xfrm rot="0">
            <a:off x="2206819" y="5028427"/>
            <a:ext cx="13963171" cy="1047750"/>
            <a:chOff x="0" y="0"/>
            <a:chExt cx="18617561" cy="1397000"/>
          </a:xfrm>
        </p:grpSpPr>
        <p:grpSp>
          <p:nvGrpSpPr>
            <p:cNvPr name="Group 21" id="21"/>
            <p:cNvGrpSpPr/>
            <p:nvPr/>
          </p:nvGrpSpPr>
          <p:grpSpPr>
            <a:xfrm rot="0">
              <a:off x="0" y="0"/>
              <a:ext cx="18617561" cy="1397000"/>
              <a:chOff x="0" y="0"/>
              <a:chExt cx="3677543" cy="275951"/>
            </a:xfrm>
          </p:grpSpPr>
          <p:sp>
            <p:nvSpPr>
              <p:cNvPr name="Freeform 22" id="2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3" id="2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Binary Systems</a:t>
              </a:r>
            </a:p>
          </p:txBody>
        </p:sp>
      </p:grpSp>
      <p:grpSp>
        <p:nvGrpSpPr>
          <p:cNvPr name="Group 25" id="25"/>
          <p:cNvGrpSpPr/>
          <p:nvPr/>
        </p:nvGrpSpPr>
        <p:grpSpPr>
          <a:xfrm rot="0">
            <a:off x="2206819" y="6804319"/>
            <a:ext cx="13963171" cy="1047750"/>
            <a:chOff x="0" y="0"/>
            <a:chExt cx="18617561" cy="1397000"/>
          </a:xfrm>
        </p:grpSpPr>
        <p:grpSp>
          <p:nvGrpSpPr>
            <p:cNvPr name="Group 26" id="26"/>
            <p:cNvGrpSpPr/>
            <p:nvPr/>
          </p:nvGrpSpPr>
          <p:grpSpPr>
            <a:xfrm rot="0">
              <a:off x="0" y="0"/>
              <a:ext cx="18617561" cy="1397000"/>
              <a:chOff x="0" y="0"/>
              <a:chExt cx="3677543" cy="275951"/>
            </a:xfrm>
          </p:grpSpPr>
          <p:sp>
            <p:nvSpPr>
              <p:cNvPr name="Freeform 27" id="2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8" id="2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Binary Data Transmission</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06819" y="1400052"/>
            <a:ext cx="13874363"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HK Grotesk Bold"/>
                <a:ea typeface="HK Grotesk Bold"/>
                <a:cs typeface="HK Grotesk Bold"/>
                <a:sym typeface="HK Grotesk Bold"/>
              </a:rPr>
              <a:t>Content</a:t>
            </a:r>
          </a:p>
        </p:txBody>
      </p:sp>
      <p:grpSp>
        <p:nvGrpSpPr>
          <p:cNvPr name="Group 15" id="15"/>
          <p:cNvGrpSpPr/>
          <p:nvPr/>
        </p:nvGrpSpPr>
        <p:grpSpPr>
          <a:xfrm rot="0">
            <a:off x="2206819" y="3252536"/>
            <a:ext cx="13963171" cy="1047750"/>
            <a:chOff x="0" y="0"/>
            <a:chExt cx="18617561" cy="1397000"/>
          </a:xfrm>
        </p:grpSpPr>
        <p:grpSp>
          <p:nvGrpSpPr>
            <p:cNvPr name="Group 16" id="16"/>
            <p:cNvGrpSpPr/>
            <p:nvPr/>
          </p:nvGrpSpPr>
          <p:grpSpPr>
            <a:xfrm rot="0">
              <a:off x="0" y="0"/>
              <a:ext cx="18617561" cy="1397000"/>
              <a:chOff x="0" y="0"/>
              <a:chExt cx="3677543" cy="275951"/>
            </a:xfrm>
          </p:grpSpPr>
          <p:sp>
            <p:nvSpPr>
              <p:cNvPr name="Freeform 17" id="1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18" id="1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Conversions Between Decimal and Binary</a:t>
              </a:r>
            </a:p>
          </p:txBody>
        </p:sp>
      </p:grpSp>
      <p:grpSp>
        <p:nvGrpSpPr>
          <p:cNvPr name="Group 20" id="20"/>
          <p:cNvGrpSpPr/>
          <p:nvPr/>
        </p:nvGrpSpPr>
        <p:grpSpPr>
          <a:xfrm rot="0">
            <a:off x="2206819" y="5028427"/>
            <a:ext cx="13963171" cy="1047750"/>
            <a:chOff x="0" y="0"/>
            <a:chExt cx="18617561" cy="1397000"/>
          </a:xfrm>
        </p:grpSpPr>
        <p:grpSp>
          <p:nvGrpSpPr>
            <p:cNvPr name="Group 21" id="21"/>
            <p:cNvGrpSpPr/>
            <p:nvPr/>
          </p:nvGrpSpPr>
          <p:grpSpPr>
            <a:xfrm rot="0">
              <a:off x="0" y="0"/>
              <a:ext cx="18617561" cy="1397000"/>
              <a:chOff x="0" y="0"/>
              <a:chExt cx="3677543" cy="275951"/>
            </a:xfrm>
          </p:grpSpPr>
          <p:sp>
            <p:nvSpPr>
              <p:cNvPr name="Freeform 22" id="2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3" id="2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Binary Arithmetic Operations</a:t>
              </a:r>
            </a:p>
          </p:txBody>
        </p:sp>
      </p:grpSp>
      <p:grpSp>
        <p:nvGrpSpPr>
          <p:cNvPr name="Group 25" id="25"/>
          <p:cNvGrpSpPr/>
          <p:nvPr/>
        </p:nvGrpSpPr>
        <p:grpSpPr>
          <a:xfrm rot="0">
            <a:off x="2206819" y="6804319"/>
            <a:ext cx="13963171" cy="1047750"/>
            <a:chOff x="0" y="0"/>
            <a:chExt cx="18617561" cy="1397000"/>
          </a:xfrm>
        </p:grpSpPr>
        <p:grpSp>
          <p:nvGrpSpPr>
            <p:cNvPr name="Group 26" id="26"/>
            <p:cNvGrpSpPr/>
            <p:nvPr/>
          </p:nvGrpSpPr>
          <p:grpSpPr>
            <a:xfrm rot="0">
              <a:off x="0" y="0"/>
              <a:ext cx="18617561" cy="1397000"/>
              <a:chOff x="0" y="0"/>
              <a:chExt cx="3677543" cy="275951"/>
            </a:xfrm>
          </p:grpSpPr>
          <p:sp>
            <p:nvSpPr>
              <p:cNvPr name="Freeform 27" id="2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8" id="2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Binary Codes</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0279178" y="5007558"/>
            <a:ext cx="6654952" cy="2852122"/>
          </a:xfrm>
          <a:custGeom>
            <a:avLst/>
            <a:gdLst/>
            <a:ahLst/>
            <a:cxnLst/>
            <a:rect r="r" b="b" t="t" l="l"/>
            <a:pathLst>
              <a:path h="2852122" w="6654952">
                <a:moveTo>
                  <a:pt x="0" y="0"/>
                </a:moveTo>
                <a:lnTo>
                  <a:pt x="6654952" y="0"/>
                </a:lnTo>
                <a:lnTo>
                  <a:pt x="6654952" y="2852122"/>
                </a:lnTo>
                <a:lnTo>
                  <a:pt x="0" y="2852122"/>
                </a:lnTo>
                <a:lnTo>
                  <a:pt x="0" y="0"/>
                </a:lnTo>
                <a:close/>
              </a:path>
            </a:pathLst>
          </a:custGeom>
          <a:blipFill>
            <a:blip r:embed="rId4"/>
            <a:stretch>
              <a:fillRect l="0" t="0" r="0" b="0"/>
            </a:stretch>
          </a:blipFill>
        </p:spPr>
      </p:sp>
      <p:sp>
        <p:nvSpPr>
          <p:cNvPr name="TextBox 15" id="15"/>
          <p:cNvSpPr txBox="true"/>
          <p:nvPr/>
        </p:nvSpPr>
        <p:spPr>
          <a:xfrm rot="0">
            <a:off x="2424850" y="4653026"/>
            <a:ext cx="7854328" cy="4605274"/>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Analog Signals: Continuous in time and value (e.g., sine waves).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Digital Signals: Discrete in time and value, easier to store, analyze, and transmit.</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Analog-to-Digital Conversion (ADC): Converts continuous signals to discrete digital signals using techniques like sampling and quantization.</a:t>
            </a:r>
          </a:p>
          <a:p>
            <a:pPr algn="l">
              <a:lnSpc>
                <a:spcPts val="3247"/>
              </a:lnSpc>
            </a:pPr>
          </a:p>
        </p:txBody>
      </p:sp>
      <p:sp>
        <p:nvSpPr>
          <p:cNvPr name="TextBox 16" id="16"/>
          <p:cNvSpPr txBox="true"/>
          <p:nvPr/>
        </p:nvSpPr>
        <p:spPr>
          <a:xfrm rot="0">
            <a:off x="2424850" y="1216978"/>
            <a:ext cx="14180375"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Introduction to Digital and Analog Signals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056746" y="4326369"/>
            <a:ext cx="8727700" cy="3233018"/>
          </a:xfrm>
          <a:custGeom>
            <a:avLst/>
            <a:gdLst/>
            <a:ahLst/>
            <a:cxnLst/>
            <a:rect r="r" b="b" t="t" l="l"/>
            <a:pathLst>
              <a:path h="3233018" w="8727700">
                <a:moveTo>
                  <a:pt x="0" y="0"/>
                </a:moveTo>
                <a:lnTo>
                  <a:pt x="8727700" y="0"/>
                </a:lnTo>
                <a:lnTo>
                  <a:pt x="8727700" y="3233018"/>
                </a:lnTo>
                <a:lnTo>
                  <a:pt x="0" y="3233018"/>
                </a:lnTo>
                <a:lnTo>
                  <a:pt x="0" y="0"/>
                </a:lnTo>
                <a:close/>
              </a:path>
            </a:pathLst>
          </a:custGeom>
          <a:blipFill>
            <a:blip r:embed="rId4"/>
            <a:stretch>
              <a:fillRect l="0" t="0" r="0" b="0"/>
            </a:stretch>
          </a:blipFill>
        </p:spPr>
      </p:sp>
      <p:sp>
        <p:nvSpPr>
          <p:cNvPr name="TextBox 15" id="15"/>
          <p:cNvSpPr txBox="true"/>
          <p:nvPr/>
        </p:nvSpPr>
        <p:spPr>
          <a:xfrm rot="0">
            <a:off x="2168836" y="3736151"/>
            <a:ext cx="5342240" cy="4605274"/>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Binary logic uses 0 and 1 to represent states.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Logic levels correspond to voltage values (e.g., +5V for logic 1 and 0V for logic 0).</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Digital waveforms represent binary values graphically over time.</a:t>
            </a:r>
          </a:p>
          <a:p>
            <a:pPr algn="l">
              <a:lnSpc>
                <a:spcPts val="3247"/>
              </a:lnSpc>
            </a:pPr>
          </a:p>
        </p:txBody>
      </p:sp>
      <p:sp>
        <p:nvSpPr>
          <p:cNvPr name="TextBox 16" id="16"/>
          <p:cNvSpPr txBox="true"/>
          <p:nvPr/>
        </p:nvSpPr>
        <p:spPr>
          <a:xfrm rot="0">
            <a:off x="4546677" y="1216978"/>
            <a:ext cx="8105336"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Binary Systems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982138" y="3121979"/>
            <a:ext cx="6555132" cy="4904210"/>
          </a:xfrm>
          <a:custGeom>
            <a:avLst/>
            <a:gdLst/>
            <a:ahLst/>
            <a:cxnLst/>
            <a:rect r="r" b="b" t="t" l="l"/>
            <a:pathLst>
              <a:path h="4904210" w="6555132">
                <a:moveTo>
                  <a:pt x="0" y="0"/>
                </a:moveTo>
                <a:lnTo>
                  <a:pt x="6555133" y="0"/>
                </a:lnTo>
                <a:lnTo>
                  <a:pt x="6555133" y="4904210"/>
                </a:lnTo>
                <a:lnTo>
                  <a:pt x="0" y="4904210"/>
                </a:lnTo>
                <a:lnTo>
                  <a:pt x="0" y="0"/>
                </a:lnTo>
                <a:close/>
              </a:path>
            </a:pathLst>
          </a:custGeom>
          <a:blipFill>
            <a:blip r:embed="rId4"/>
            <a:stretch>
              <a:fillRect l="0" t="0" r="0" b="0"/>
            </a:stretch>
          </a:blipFill>
        </p:spPr>
      </p:sp>
      <p:sp>
        <p:nvSpPr>
          <p:cNvPr name="TextBox 15" id="15"/>
          <p:cNvSpPr txBox="true"/>
          <p:nvPr/>
        </p:nvSpPr>
        <p:spPr>
          <a:xfrm rot="0">
            <a:off x="1874583" y="3547239"/>
            <a:ext cx="7269417" cy="3754374"/>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Serial Transmission: Sends data bits sequentially, requiring fewer lines but slower transmission.</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Parallel Transmission: Sends all bits simultaneously, offering faster transmission but requiring more lines and complex hardware.</a:t>
            </a:r>
          </a:p>
          <a:p>
            <a:pPr algn="l">
              <a:lnSpc>
                <a:spcPts val="3247"/>
              </a:lnSpc>
            </a:pPr>
          </a:p>
        </p:txBody>
      </p:sp>
      <p:sp>
        <p:nvSpPr>
          <p:cNvPr name="TextBox 16" id="16"/>
          <p:cNvSpPr txBox="true"/>
          <p:nvPr/>
        </p:nvSpPr>
        <p:spPr>
          <a:xfrm rot="0">
            <a:off x="2424850" y="1216978"/>
            <a:ext cx="14180375"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Binary Data Transmission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0088408" y="4225576"/>
            <a:ext cx="6516816" cy="4126675"/>
          </a:xfrm>
          <a:custGeom>
            <a:avLst/>
            <a:gdLst/>
            <a:ahLst/>
            <a:cxnLst/>
            <a:rect r="r" b="b" t="t" l="l"/>
            <a:pathLst>
              <a:path h="4126675" w="6516816">
                <a:moveTo>
                  <a:pt x="0" y="0"/>
                </a:moveTo>
                <a:lnTo>
                  <a:pt x="6516817" y="0"/>
                </a:lnTo>
                <a:lnTo>
                  <a:pt x="6516817" y="4126675"/>
                </a:lnTo>
                <a:lnTo>
                  <a:pt x="0" y="4126675"/>
                </a:lnTo>
                <a:lnTo>
                  <a:pt x="0" y="0"/>
                </a:lnTo>
                <a:close/>
              </a:path>
            </a:pathLst>
          </a:custGeom>
          <a:blipFill>
            <a:blip r:embed="rId4"/>
            <a:stretch>
              <a:fillRect l="0" t="-9490" r="0" b="0"/>
            </a:stretch>
          </a:blipFill>
        </p:spPr>
      </p:sp>
      <p:sp>
        <p:nvSpPr>
          <p:cNvPr name="TextBox 15" id="15"/>
          <p:cNvSpPr txBox="true"/>
          <p:nvPr/>
        </p:nvSpPr>
        <p:spPr>
          <a:xfrm rot="0">
            <a:off x="2424850" y="4621276"/>
            <a:ext cx="7854328" cy="334479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Integer Conversion: Use the "divide by 2" method until the quotient is 0, then reverse the remainders.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Fractional Conversion: Multiply the fractional part by 2 iteratively, recording the integer parts until the desired precision is reached.</a:t>
            </a:r>
          </a:p>
          <a:p>
            <a:pPr algn="l">
              <a:lnSpc>
                <a:spcPts val="3247"/>
              </a:lnSpc>
            </a:pPr>
          </a:p>
        </p:txBody>
      </p:sp>
      <p:sp>
        <p:nvSpPr>
          <p:cNvPr name="TextBox 16" id="16"/>
          <p:cNvSpPr txBox="true"/>
          <p:nvPr/>
        </p:nvSpPr>
        <p:spPr>
          <a:xfrm rot="0">
            <a:off x="2424850" y="1216978"/>
            <a:ext cx="14180375"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Conversions Between Decimal and Binary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389012" y="3719980"/>
            <a:ext cx="7415538" cy="3944221"/>
          </a:xfrm>
          <a:custGeom>
            <a:avLst/>
            <a:gdLst/>
            <a:ahLst/>
            <a:cxnLst/>
            <a:rect r="r" b="b" t="t" l="l"/>
            <a:pathLst>
              <a:path h="3944221" w="7415538">
                <a:moveTo>
                  <a:pt x="0" y="0"/>
                </a:moveTo>
                <a:lnTo>
                  <a:pt x="7415538" y="0"/>
                </a:lnTo>
                <a:lnTo>
                  <a:pt x="7415538" y="3944221"/>
                </a:lnTo>
                <a:lnTo>
                  <a:pt x="0" y="3944221"/>
                </a:lnTo>
                <a:lnTo>
                  <a:pt x="0" y="0"/>
                </a:lnTo>
                <a:close/>
              </a:path>
            </a:pathLst>
          </a:custGeom>
          <a:blipFill>
            <a:blip r:embed="rId4"/>
            <a:stretch>
              <a:fillRect l="0" t="0" r="0" b="0"/>
            </a:stretch>
          </a:blipFill>
        </p:spPr>
      </p:sp>
      <p:sp>
        <p:nvSpPr>
          <p:cNvPr name="TextBox 15" id="15"/>
          <p:cNvSpPr txBox="true"/>
          <p:nvPr/>
        </p:nvSpPr>
        <p:spPr>
          <a:xfrm rot="0">
            <a:off x="1657476" y="3120667"/>
            <a:ext cx="7854328" cy="586574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Unsigned Binary: Basic addition and subtraction with carry or borrow.</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Signed Binary: Uses the most significant bit as the sign (0 for positive, 1 for negative).</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Complement Codes: Enable arithmetic operations with negative numbers by flipping bits and adding 1.</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Overflow occurs when results exceed the bit limit and can be resolved through bit expansion.</a:t>
            </a:r>
          </a:p>
          <a:p>
            <a:pPr algn="l">
              <a:lnSpc>
                <a:spcPts val="3247"/>
              </a:lnSpc>
            </a:pPr>
          </a:p>
        </p:txBody>
      </p:sp>
      <p:sp>
        <p:nvSpPr>
          <p:cNvPr name="TextBox 16" id="16"/>
          <p:cNvSpPr txBox="true"/>
          <p:nvPr/>
        </p:nvSpPr>
        <p:spPr>
          <a:xfrm rot="0">
            <a:off x="1657476" y="1216978"/>
            <a:ext cx="15463071"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Binary Arithmetic Operations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167452"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0023164" y="3556613"/>
            <a:ext cx="6736136" cy="3921981"/>
          </a:xfrm>
          <a:custGeom>
            <a:avLst/>
            <a:gdLst/>
            <a:ahLst/>
            <a:cxnLst/>
            <a:rect r="r" b="b" t="t" l="l"/>
            <a:pathLst>
              <a:path h="3921981" w="6736136">
                <a:moveTo>
                  <a:pt x="0" y="0"/>
                </a:moveTo>
                <a:lnTo>
                  <a:pt x="6736136" y="0"/>
                </a:lnTo>
                <a:lnTo>
                  <a:pt x="6736136" y="3921981"/>
                </a:lnTo>
                <a:lnTo>
                  <a:pt x="0" y="3921981"/>
                </a:lnTo>
                <a:lnTo>
                  <a:pt x="0" y="0"/>
                </a:lnTo>
                <a:close/>
              </a:path>
            </a:pathLst>
          </a:custGeom>
          <a:blipFill>
            <a:blip r:embed="rId4"/>
            <a:stretch>
              <a:fillRect l="0" t="0" r="-26002" b="0"/>
            </a:stretch>
          </a:blipFill>
        </p:spPr>
      </p:sp>
      <p:sp>
        <p:nvSpPr>
          <p:cNvPr name="TextBox 15" id="15"/>
          <p:cNvSpPr txBox="true"/>
          <p:nvPr/>
        </p:nvSpPr>
        <p:spPr>
          <a:xfrm rot="0">
            <a:off x="2168836" y="3566138"/>
            <a:ext cx="7854328" cy="4195699"/>
          </a:xfrm>
          <a:prstGeom prst="rect">
            <a:avLst/>
          </a:prstGeom>
        </p:spPr>
        <p:txBody>
          <a:bodyPr anchor="t" rtlCol="false" tIns="0" lIns="0" bIns="0" rIns="0">
            <a:spAutoFit/>
          </a:bodyPr>
          <a:lstStyle/>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BCD Codes: Represent decimal digits in binary (e.g., 8421 and 2421 codes).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Gray Codes: Designed for minimal transition between states, where only one bit changes between consecutive numbers.</a:t>
            </a:r>
          </a:p>
          <a:p>
            <a:pPr algn="l">
              <a:lnSpc>
                <a:spcPts val="3247"/>
              </a:lnSpc>
            </a:pPr>
          </a:p>
          <a:p>
            <a:pPr algn="l" marL="604519" indent="-302260" lvl="1">
              <a:lnSpc>
                <a:spcPts val="3247"/>
              </a:lnSpc>
              <a:buFont typeface="Arial"/>
              <a:buChar char="•"/>
            </a:pPr>
            <a:r>
              <a:rPr lang="en-US" b="true" sz="2799">
                <a:solidFill>
                  <a:srgbClr val="000000"/>
                </a:solidFill>
                <a:latin typeface="HK Grotesk Medium"/>
                <a:ea typeface="HK Grotesk Medium"/>
                <a:cs typeface="HK Grotesk Medium"/>
                <a:sym typeface="HK Grotesk Medium"/>
              </a:rPr>
              <a:t>ASCII: Encodes characters into binary for use in digital systems (e.g., keyboards).</a:t>
            </a:r>
          </a:p>
          <a:p>
            <a:pPr algn="l">
              <a:lnSpc>
                <a:spcPts val="3247"/>
              </a:lnSpc>
            </a:pPr>
          </a:p>
        </p:txBody>
      </p:sp>
      <p:sp>
        <p:nvSpPr>
          <p:cNvPr name="TextBox 16" id="16"/>
          <p:cNvSpPr txBox="true"/>
          <p:nvPr/>
        </p:nvSpPr>
        <p:spPr>
          <a:xfrm rot="0">
            <a:off x="5682849" y="1216978"/>
            <a:ext cx="6922302" cy="1576069"/>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Binary Codes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59611" y="4738370"/>
            <a:ext cx="8505991" cy="3453130"/>
          </a:xfrm>
          <a:prstGeom prst="rect">
            <a:avLst/>
          </a:prstGeom>
        </p:spPr>
        <p:txBody>
          <a:bodyPr anchor="t" rtlCol="false" tIns="0" lIns="0" bIns="0" rIns="0">
            <a:spAutoFit/>
          </a:bodyPr>
          <a:lstStyle/>
          <a:p>
            <a:pPr algn="l">
              <a:lnSpc>
                <a:spcPts val="3919"/>
              </a:lnSpc>
            </a:pPr>
            <a:r>
              <a:rPr lang="en-US" sz="2799" b="true">
                <a:solidFill>
                  <a:srgbClr val="000000"/>
                </a:solidFill>
                <a:latin typeface="HK Grotesk Medium"/>
                <a:ea typeface="HK Grotesk Medium"/>
                <a:cs typeface="HK Grotesk Medium"/>
                <a:sym typeface="HK Grotesk Medium"/>
              </a:rPr>
              <a:t>The brain of any computer is the CPU (central processing unit). The CPU fetches instructions from main memory and executes them.</a:t>
            </a:r>
          </a:p>
          <a:p>
            <a:pPr algn="l">
              <a:lnSpc>
                <a:spcPts val="3919"/>
              </a:lnSpc>
            </a:pPr>
          </a:p>
          <a:p>
            <a:pPr algn="l">
              <a:lnSpc>
                <a:spcPts val="3919"/>
              </a:lnSpc>
            </a:pPr>
            <a:r>
              <a:rPr lang="en-US" sz="2799" b="true">
                <a:solidFill>
                  <a:srgbClr val="000000"/>
                </a:solidFill>
                <a:latin typeface="HK Grotesk Medium"/>
                <a:ea typeface="HK Grotesk Medium"/>
                <a:cs typeface="HK Grotesk Medium"/>
                <a:sym typeface="HK Grotesk Medium"/>
              </a:rPr>
              <a:t>The ALU (arithmetic logic unit) is the component within the CPU where logical decisions are made. This decision making process is called Boolean logic.</a:t>
            </a:r>
          </a:p>
        </p:txBody>
      </p:sp>
      <p:sp>
        <p:nvSpPr>
          <p:cNvPr name="TextBox 15" id="15"/>
          <p:cNvSpPr txBox="true"/>
          <p:nvPr/>
        </p:nvSpPr>
        <p:spPr>
          <a:xfrm rot="0">
            <a:off x="2259611" y="1400052"/>
            <a:ext cx="8071209" cy="3204844"/>
          </a:xfrm>
          <a:prstGeom prst="rect">
            <a:avLst/>
          </a:prstGeom>
        </p:spPr>
        <p:txBody>
          <a:bodyPr anchor="t" rtlCol="false" tIns="0" lIns="0" bIns="0" rIns="0">
            <a:spAutoFit/>
          </a:bodyPr>
          <a:lstStyle/>
          <a:p>
            <a:pPr algn="l">
              <a:lnSpc>
                <a:spcPts val="12880"/>
              </a:lnSpc>
            </a:pPr>
            <a:r>
              <a:rPr lang="en-US" sz="9200" b="true">
                <a:solidFill>
                  <a:srgbClr val="000000"/>
                </a:solidFill>
                <a:latin typeface="HK Grotesk Bold"/>
                <a:ea typeface="HK Grotesk Bold"/>
                <a:cs typeface="HK Grotesk Bold"/>
                <a:sym typeface="HK Grotesk Bold"/>
              </a:rPr>
              <a:t>4-</a:t>
            </a:r>
            <a:r>
              <a:rPr lang="en-US" b="true" sz="9200">
                <a:solidFill>
                  <a:srgbClr val="000000"/>
                </a:solidFill>
                <a:latin typeface="HK Grotesk Bold"/>
                <a:ea typeface="HK Grotesk Bold"/>
                <a:cs typeface="HK Grotesk Bold"/>
                <a:sym typeface="HK Grotesk Bold"/>
              </a:rPr>
              <a:t>Boolean  and Gate Logic</a:t>
            </a:r>
          </a:p>
        </p:txBody>
      </p:sp>
      <p:grpSp>
        <p:nvGrpSpPr>
          <p:cNvPr name="Group 16" id="16"/>
          <p:cNvGrpSpPr/>
          <p:nvPr/>
        </p:nvGrpSpPr>
        <p:grpSpPr>
          <a:xfrm rot="0">
            <a:off x="11849462" y="3154076"/>
            <a:ext cx="4286250" cy="4286250"/>
            <a:chOff x="0" y="0"/>
            <a:chExt cx="5715000" cy="5715000"/>
          </a:xfrm>
        </p:grpSpPr>
        <p:sp>
          <p:nvSpPr>
            <p:cNvPr name="AutoShape 17" id="17"/>
            <p:cNvSpPr/>
            <p:nvPr/>
          </p:nvSpPr>
          <p:spPr>
            <a:xfrm>
              <a:off x="0" y="1185126"/>
              <a:ext cx="5715000" cy="0"/>
            </a:xfrm>
            <a:prstGeom prst="line">
              <a:avLst/>
            </a:prstGeom>
            <a:ln cap="rnd" w="317500">
              <a:solidFill>
                <a:srgbClr val="000000"/>
              </a:solidFill>
              <a:prstDash val="solid"/>
              <a:headEnd type="none" len="sm" w="sm"/>
              <a:tailEnd type="none" len="sm" w="sm"/>
            </a:ln>
          </p:spPr>
        </p:sp>
        <p:sp>
          <p:nvSpPr>
            <p:cNvPr name="AutoShape 18" id="18"/>
            <p:cNvSpPr/>
            <p:nvPr/>
          </p:nvSpPr>
          <p:spPr>
            <a:xfrm>
              <a:off x="0" y="1854075"/>
              <a:ext cx="5715000" cy="0"/>
            </a:xfrm>
            <a:prstGeom prst="line">
              <a:avLst/>
            </a:prstGeom>
            <a:ln cap="rnd" w="317500">
              <a:solidFill>
                <a:srgbClr val="000000"/>
              </a:solidFill>
              <a:prstDash val="solid"/>
              <a:headEnd type="none" len="sm" w="sm"/>
              <a:tailEnd type="none" len="sm" w="sm"/>
            </a:ln>
          </p:spPr>
        </p:sp>
        <p:sp>
          <p:nvSpPr>
            <p:cNvPr name="AutoShape 19" id="19"/>
            <p:cNvSpPr/>
            <p:nvPr/>
          </p:nvSpPr>
          <p:spPr>
            <a:xfrm>
              <a:off x="0" y="2523025"/>
              <a:ext cx="5715000" cy="0"/>
            </a:xfrm>
            <a:prstGeom prst="line">
              <a:avLst/>
            </a:prstGeom>
            <a:ln cap="rnd" w="317500">
              <a:solidFill>
                <a:srgbClr val="000000"/>
              </a:solidFill>
              <a:prstDash val="solid"/>
              <a:headEnd type="none" len="sm" w="sm"/>
              <a:tailEnd type="none" len="sm" w="sm"/>
            </a:ln>
          </p:spPr>
        </p:sp>
        <p:sp>
          <p:nvSpPr>
            <p:cNvPr name="AutoShape 20" id="20"/>
            <p:cNvSpPr/>
            <p:nvPr/>
          </p:nvSpPr>
          <p:spPr>
            <a:xfrm>
              <a:off x="0" y="3191975"/>
              <a:ext cx="5715000" cy="0"/>
            </a:xfrm>
            <a:prstGeom prst="line">
              <a:avLst/>
            </a:prstGeom>
            <a:ln cap="rnd" w="317500">
              <a:solidFill>
                <a:srgbClr val="000000"/>
              </a:solidFill>
              <a:prstDash val="solid"/>
              <a:headEnd type="none" len="sm" w="sm"/>
              <a:tailEnd type="none" len="sm" w="sm"/>
            </a:ln>
          </p:spPr>
        </p:sp>
        <p:sp>
          <p:nvSpPr>
            <p:cNvPr name="AutoShape 21" id="21"/>
            <p:cNvSpPr/>
            <p:nvPr/>
          </p:nvSpPr>
          <p:spPr>
            <a:xfrm>
              <a:off x="0" y="3860925"/>
              <a:ext cx="5715000" cy="0"/>
            </a:xfrm>
            <a:prstGeom prst="line">
              <a:avLst/>
            </a:prstGeom>
            <a:ln cap="rnd" w="317500">
              <a:solidFill>
                <a:srgbClr val="000000"/>
              </a:solidFill>
              <a:prstDash val="solid"/>
              <a:headEnd type="none" len="sm" w="sm"/>
              <a:tailEnd type="none" len="sm" w="sm"/>
            </a:ln>
          </p:spPr>
        </p:sp>
        <p:sp>
          <p:nvSpPr>
            <p:cNvPr name="AutoShape 22" id="22"/>
            <p:cNvSpPr/>
            <p:nvPr/>
          </p:nvSpPr>
          <p:spPr>
            <a:xfrm>
              <a:off x="0" y="4529874"/>
              <a:ext cx="5715000" cy="0"/>
            </a:xfrm>
            <a:prstGeom prst="line">
              <a:avLst/>
            </a:prstGeom>
            <a:ln cap="rnd" w="317500">
              <a:solidFill>
                <a:srgbClr val="000000"/>
              </a:solidFill>
              <a:prstDash val="solid"/>
              <a:headEnd type="none" len="sm" w="sm"/>
              <a:tailEnd type="none" len="sm" w="sm"/>
            </a:ln>
          </p:spPr>
        </p:sp>
        <p:sp>
          <p:nvSpPr>
            <p:cNvPr name="AutoShape 23" id="23"/>
            <p:cNvSpPr/>
            <p:nvPr/>
          </p:nvSpPr>
          <p:spPr>
            <a:xfrm flipV="true">
              <a:off x="1184240" y="0"/>
              <a:ext cx="0" cy="5715000"/>
            </a:xfrm>
            <a:prstGeom prst="line">
              <a:avLst/>
            </a:prstGeom>
            <a:ln cap="rnd" w="317500">
              <a:solidFill>
                <a:srgbClr val="000000"/>
              </a:solidFill>
              <a:prstDash val="solid"/>
              <a:headEnd type="none" len="sm" w="sm"/>
              <a:tailEnd type="none" len="sm" w="sm"/>
            </a:ln>
          </p:spPr>
        </p:sp>
        <p:sp>
          <p:nvSpPr>
            <p:cNvPr name="AutoShape 24" id="24"/>
            <p:cNvSpPr/>
            <p:nvPr/>
          </p:nvSpPr>
          <p:spPr>
            <a:xfrm flipV="true">
              <a:off x="1853189" y="0"/>
              <a:ext cx="0" cy="5715000"/>
            </a:xfrm>
            <a:prstGeom prst="line">
              <a:avLst/>
            </a:prstGeom>
            <a:ln cap="rnd" w="317500">
              <a:solidFill>
                <a:srgbClr val="000000"/>
              </a:solidFill>
              <a:prstDash val="solid"/>
              <a:headEnd type="none" len="sm" w="sm"/>
              <a:tailEnd type="none" len="sm" w="sm"/>
            </a:ln>
          </p:spPr>
        </p:sp>
        <p:sp>
          <p:nvSpPr>
            <p:cNvPr name="AutoShape 25" id="25"/>
            <p:cNvSpPr/>
            <p:nvPr/>
          </p:nvSpPr>
          <p:spPr>
            <a:xfrm flipV="true">
              <a:off x="2522139" y="0"/>
              <a:ext cx="0" cy="5715000"/>
            </a:xfrm>
            <a:prstGeom prst="line">
              <a:avLst/>
            </a:prstGeom>
            <a:ln cap="rnd" w="317500">
              <a:solidFill>
                <a:srgbClr val="000000"/>
              </a:solidFill>
              <a:prstDash val="solid"/>
              <a:headEnd type="none" len="sm" w="sm"/>
              <a:tailEnd type="none" len="sm" w="sm"/>
            </a:ln>
          </p:spPr>
        </p:sp>
        <p:sp>
          <p:nvSpPr>
            <p:cNvPr name="AutoShape 26" id="26"/>
            <p:cNvSpPr/>
            <p:nvPr/>
          </p:nvSpPr>
          <p:spPr>
            <a:xfrm flipV="true">
              <a:off x="3191089" y="0"/>
              <a:ext cx="0" cy="5715000"/>
            </a:xfrm>
            <a:prstGeom prst="line">
              <a:avLst/>
            </a:prstGeom>
            <a:ln cap="rnd" w="317500">
              <a:solidFill>
                <a:srgbClr val="000000"/>
              </a:solidFill>
              <a:prstDash val="solid"/>
              <a:headEnd type="none" len="sm" w="sm"/>
              <a:tailEnd type="none" len="sm" w="sm"/>
            </a:ln>
          </p:spPr>
        </p:sp>
        <p:sp>
          <p:nvSpPr>
            <p:cNvPr name="AutoShape 27" id="27"/>
            <p:cNvSpPr/>
            <p:nvPr/>
          </p:nvSpPr>
          <p:spPr>
            <a:xfrm flipV="true">
              <a:off x="3860039" y="0"/>
              <a:ext cx="0" cy="5715000"/>
            </a:xfrm>
            <a:prstGeom prst="line">
              <a:avLst/>
            </a:prstGeom>
            <a:ln cap="rnd" w="317500">
              <a:solidFill>
                <a:srgbClr val="000000"/>
              </a:solidFill>
              <a:prstDash val="solid"/>
              <a:headEnd type="none" len="sm" w="sm"/>
              <a:tailEnd type="none" len="sm" w="sm"/>
            </a:ln>
          </p:spPr>
        </p:sp>
        <p:sp>
          <p:nvSpPr>
            <p:cNvPr name="AutoShape 28" id="28"/>
            <p:cNvSpPr/>
            <p:nvPr/>
          </p:nvSpPr>
          <p:spPr>
            <a:xfrm flipV="true">
              <a:off x="4528988" y="0"/>
              <a:ext cx="0" cy="5715000"/>
            </a:xfrm>
            <a:prstGeom prst="line">
              <a:avLst/>
            </a:prstGeom>
            <a:ln cap="rnd" w="317500">
              <a:solidFill>
                <a:srgbClr val="000000"/>
              </a:solidFill>
              <a:prstDash val="solid"/>
              <a:headEnd type="none" len="sm" w="sm"/>
              <a:tailEnd type="none" len="sm" w="sm"/>
            </a:ln>
          </p:spPr>
        </p:sp>
        <p:grpSp>
          <p:nvGrpSpPr>
            <p:cNvPr name="Group 29" id="29"/>
            <p:cNvGrpSpPr/>
            <p:nvPr/>
          </p:nvGrpSpPr>
          <p:grpSpPr>
            <a:xfrm rot="0">
              <a:off x="444500" y="444500"/>
              <a:ext cx="4826000" cy="4826000"/>
              <a:chOff x="0" y="0"/>
              <a:chExt cx="1395072" cy="1395072"/>
            </a:xfrm>
          </p:grpSpPr>
          <p:sp>
            <p:nvSpPr>
              <p:cNvPr name="Freeform 30" id="30"/>
              <p:cNvSpPr/>
              <p:nvPr/>
            </p:nvSpPr>
            <p:spPr>
              <a:xfrm flipH="false" flipV="false" rot="0">
                <a:off x="0" y="0"/>
                <a:ext cx="1395072" cy="1395072"/>
              </a:xfrm>
              <a:custGeom>
                <a:avLst/>
                <a:gdLst/>
                <a:ahLst/>
                <a:cxnLst/>
                <a:rect r="r" b="b" t="t" l="l"/>
                <a:pathLst>
                  <a:path h="1395072" w="1395072">
                    <a:moveTo>
                      <a:pt x="53474" y="0"/>
                    </a:moveTo>
                    <a:lnTo>
                      <a:pt x="1341599" y="0"/>
                    </a:lnTo>
                    <a:cubicBezTo>
                      <a:pt x="1355781" y="0"/>
                      <a:pt x="1369382" y="5634"/>
                      <a:pt x="1379410" y="15662"/>
                    </a:cubicBezTo>
                    <a:cubicBezTo>
                      <a:pt x="1389439" y="25690"/>
                      <a:pt x="1395072" y="39292"/>
                      <a:pt x="1395072" y="53474"/>
                    </a:cubicBezTo>
                    <a:lnTo>
                      <a:pt x="1395072" y="1341599"/>
                    </a:lnTo>
                    <a:cubicBezTo>
                      <a:pt x="1395072" y="1371131"/>
                      <a:pt x="1371131" y="1395072"/>
                      <a:pt x="1341599" y="1395072"/>
                    </a:cubicBezTo>
                    <a:lnTo>
                      <a:pt x="53474" y="1395072"/>
                    </a:lnTo>
                    <a:cubicBezTo>
                      <a:pt x="23941" y="1395072"/>
                      <a:pt x="0" y="1371131"/>
                      <a:pt x="0" y="1341599"/>
                    </a:cubicBezTo>
                    <a:lnTo>
                      <a:pt x="0" y="53474"/>
                    </a:lnTo>
                    <a:cubicBezTo>
                      <a:pt x="0" y="23941"/>
                      <a:pt x="23941" y="0"/>
                      <a:pt x="53474" y="0"/>
                    </a:cubicBezTo>
                    <a:close/>
                  </a:path>
                </a:pathLst>
              </a:custGeom>
              <a:solidFill>
                <a:srgbClr val="F4F6FC"/>
              </a:solidFill>
              <a:ln w="95250" cap="rnd">
                <a:solidFill>
                  <a:srgbClr val="000000"/>
                </a:solidFill>
                <a:prstDash val="solid"/>
                <a:round/>
              </a:ln>
            </p:spPr>
          </p:sp>
          <p:sp>
            <p:nvSpPr>
              <p:cNvPr name="TextBox 31" id="31"/>
              <p:cNvSpPr txBox="true"/>
              <p:nvPr/>
            </p:nvSpPr>
            <p:spPr>
              <a:xfrm>
                <a:off x="0" y="-38100"/>
                <a:ext cx="1395072" cy="1433172"/>
              </a:xfrm>
              <a:prstGeom prst="rect">
                <a:avLst/>
              </a:prstGeom>
            </p:spPr>
            <p:txBody>
              <a:bodyPr anchor="ctr" rtlCol="false" tIns="32516" lIns="32516" bIns="32516" rIns="32516"/>
              <a:lstStyle/>
              <a:p>
                <a:pPr algn="ctr">
                  <a:lnSpc>
                    <a:spcPts val="2659"/>
                  </a:lnSpc>
                  <a:spcBef>
                    <a:spcPct val="0"/>
                  </a:spcBef>
                </a:pPr>
              </a:p>
            </p:txBody>
          </p:sp>
        </p:grpSp>
        <p:sp>
          <p:nvSpPr>
            <p:cNvPr name="AutoShape 32" id="32"/>
            <p:cNvSpPr/>
            <p:nvPr/>
          </p:nvSpPr>
          <p:spPr>
            <a:xfrm>
              <a:off x="1963993" y="1166288"/>
              <a:ext cx="535040" cy="913980"/>
            </a:xfrm>
            <a:prstGeom prst="line">
              <a:avLst/>
            </a:prstGeom>
            <a:ln cap="flat" w="88900">
              <a:solidFill>
                <a:srgbClr val="000000"/>
              </a:solidFill>
              <a:prstDash val="solid"/>
              <a:headEnd type="none" len="sm" w="sm"/>
              <a:tailEnd type="none" len="sm" w="sm"/>
            </a:ln>
          </p:spPr>
        </p:sp>
        <p:sp>
          <p:nvSpPr>
            <p:cNvPr name="AutoShape 33" id="33"/>
            <p:cNvSpPr/>
            <p:nvPr/>
          </p:nvSpPr>
          <p:spPr>
            <a:xfrm flipH="true">
              <a:off x="3167983" y="1429496"/>
              <a:ext cx="535040" cy="650772"/>
            </a:xfrm>
            <a:prstGeom prst="line">
              <a:avLst/>
            </a:prstGeom>
            <a:ln cap="flat" w="88900">
              <a:solidFill>
                <a:srgbClr val="000000"/>
              </a:solidFill>
              <a:prstDash val="solid"/>
              <a:headEnd type="none" len="sm" w="sm"/>
              <a:tailEnd type="none" len="sm" w="sm"/>
            </a:ln>
          </p:spPr>
        </p:sp>
        <p:sp>
          <p:nvSpPr>
            <p:cNvPr name="AutoShape 34" id="34"/>
            <p:cNvSpPr/>
            <p:nvPr/>
          </p:nvSpPr>
          <p:spPr>
            <a:xfrm>
              <a:off x="3459543" y="2731041"/>
              <a:ext cx="586857" cy="866015"/>
            </a:xfrm>
            <a:prstGeom prst="line">
              <a:avLst/>
            </a:prstGeom>
            <a:ln cap="flat" w="88900">
              <a:solidFill>
                <a:srgbClr val="000000"/>
              </a:solidFill>
              <a:prstDash val="solid"/>
              <a:headEnd type="none" len="sm" w="sm"/>
              <a:tailEnd type="none" len="sm" w="sm"/>
            </a:ln>
          </p:spPr>
        </p:sp>
        <p:sp>
          <p:nvSpPr>
            <p:cNvPr name="AutoShape 35" id="35"/>
            <p:cNvSpPr/>
            <p:nvPr/>
          </p:nvSpPr>
          <p:spPr>
            <a:xfrm>
              <a:off x="942920" y="3173137"/>
              <a:ext cx="393127" cy="1074692"/>
            </a:xfrm>
            <a:prstGeom prst="line">
              <a:avLst/>
            </a:prstGeom>
            <a:ln cap="flat" w="88900">
              <a:solidFill>
                <a:srgbClr val="000000"/>
              </a:solidFill>
              <a:prstDash val="solid"/>
              <a:headEnd type="none" len="sm" w="sm"/>
              <a:tailEnd type="none" len="sm" w="sm"/>
            </a:ln>
          </p:spPr>
        </p:sp>
        <p:grpSp>
          <p:nvGrpSpPr>
            <p:cNvPr name="Group 36" id="36"/>
            <p:cNvGrpSpPr/>
            <p:nvPr/>
          </p:nvGrpSpPr>
          <p:grpSpPr>
            <a:xfrm rot="0">
              <a:off x="757137" y="778723"/>
              <a:ext cx="1206856" cy="2603090"/>
              <a:chOff x="0" y="0"/>
              <a:chExt cx="372435" cy="803312"/>
            </a:xfrm>
          </p:grpSpPr>
          <p:sp>
            <p:nvSpPr>
              <p:cNvPr name="Freeform 37" id="37"/>
              <p:cNvSpPr/>
              <p:nvPr/>
            </p:nvSpPr>
            <p:spPr>
              <a:xfrm flipH="false" flipV="false" rot="0">
                <a:off x="0" y="0"/>
                <a:ext cx="372435" cy="803312"/>
              </a:xfrm>
              <a:custGeom>
                <a:avLst/>
                <a:gdLst/>
                <a:ahLst/>
                <a:cxnLst/>
                <a:rect r="r" b="b" t="t" l="l"/>
                <a:pathLst>
                  <a:path h="803312" w="372435">
                    <a:moveTo>
                      <a:pt x="128299" y="0"/>
                    </a:moveTo>
                    <a:lnTo>
                      <a:pt x="244136" y="0"/>
                    </a:lnTo>
                    <a:cubicBezTo>
                      <a:pt x="278163" y="0"/>
                      <a:pt x="310796" y="13517"/>
                      <a:pt x="334857" y="37578"/>
                    </a:cubicBezTo>
                    <a:cubicBezTo>
                      <a:pt x="358918" y="61639"/>
                      <a:pt x="372435" y="94272"/>
                      <a:pt x="372435" y="128299"/>
                    </a:cubicBezTo>
                    <a:lnTo>
                      <a:pt x="372435" y="675013"/>
                    </a:lnTo>
                    <a:cubicBezTo>
                      <a:pt x="372435" y="709040"/>
                      <a:pt x="358918" y="741673"/>
                      <a:pt x="334857" y="765734"/>
                    </a:cubicBezTo>
                    <a:cubicBezTo>
                      <a:pt x="310796" y="789795"/>
                      <a:pt x="278163" y="803312"/>
                      <a:pt x="244136" y="803312"/>
                    </a:cubicBezTo>
                    <a:lnTo>
                      <a:pt x="128299" y="803312"/>
                    </a:lnTo>
                    <a:cubicBezTo>
                      <a:pt x="94272" y="803312"/>
                      <a:pt x="61639" y="789795"/>
                      <a:pt x="37578" y="765734"/>
                    </a:cubicBezTo>
                    <a:cubicBezTo>
                      <a:pt x="13517" y="741673"/>
                      <a:pt x="0" y="709040"/>
                      <a:pt x="0" y="675013"/>
                    </a:cubicBezTo>
                    <a:lnTo>
                      <a:pt x="0" y="128299"/>
                    </a:lnTo>
                    <a:cubicBezTo>
                      <a:pt x="0" y="94272"/>
                      <a:pt x="13517" y="61639"/>
                      <a:pt x="37578" y="37578"/>
                    </a:cubicBezTo>
                    <a:cubicBezTo>
                      <a:pt x="61639" y="13517"/>
                      <a:pt x="94272" y="0"/>
                      <a:pt x="128299" y="0"/>
                    </a:cubicBezTo>
                    <a:close/>
                  </a:path>
                </a:pathLst>
              </a:custGeom>
              <a:solidFill>
                <a:srgbClr val="CAE8FF"/>
              </a:solidFill>
              <a:ln w="47625" cap="sq">
                <a:solidFill>
                  <a:srgbClr val="000000"/>
                </a:solidFill>
                <a:prstDash val="solid"/>
                <a:miter/>
              </a:ln>
            </p:spPr>
          </p:sp>
          <p:sp>
            <p:nvSpPr>
              <p:cNvPr name="TextBox 38" id="38"/>
              <p:cNvSpPr txBox="true"/>
              <p:nvPr/>
            </p:nvSpPr>
            <p:spPr>
              <a:xfrm>
                <a:off x="0" y="-47625"/>
                <a:ext cx="372435" cy="850937"/>
              </a:xfrm>
              <a:prstGeom prst="rect">
                <a:avLst/>
              </a:prstGeom>
            </p:spPr>
            <p:txBody>
              <a:bodyPr anchor="ctr" rtlCol="false" tIns="32516" lIns="32516" bIns="32516" rIns="32516"/>
              <a:lstStyle/>
              <a:p>
                <a:pPr algn="ctr">
                  <a:lnSpc>
                    <a:spcPts val="2939"/>
                  </a:lnSpc>
                </a:pPr>
              </a:p>
            </p:txBody>
          </p:sp>
        </p:grpSp>
        <p:grpSp>
          <p:nvGrpSpPr>
            <p:cNvPr name="Group 39" id="39"/>
            <p:cNvGrpSpPr/>
            <p:nvPr/>
          </p:nvGrpSpPr>
          <p:grpSpPr>
            <a:xfrm rot="0">
              <a:off x="3703022" y="778723"/>
              <a:ext cx="1206856" cy="1301545"/>
              <a:chOff x="0" y="0"/>
              <a:chExt cx="372435" cy="401656"/>
            </a:xfrm>
          </p:grpSpPr>
          <p:sp>
            <p:nvSpPr>
              <p:cNvPr name="Freeform 40" id="40"/>
              <p:cNvSpPr/>
              <p:nvPr/>
            </p:nvSpPr>
            <p:spPr>
              <a:xfrm flipH="false" flipV="false" rot="0">
                <a:off x="0" y="0"/>
                <a:ext cx="372435" cy="401656"/>
              </a:xfrm>
              <a:custGeom>
                <a:avLst/>
                <a:gdLst/>
                <a:ahLst/>
                <a:cxnLst/>
                <a:rect r="r" b="b" t="t" l="l"/>
                <a:pathLst>
                  <a:path h="401656" w="372435">
                    <a:moveTo>
                      <a:pt x="128299" y="0"/>
                    </a:moveTo>
                    <a:lnTo>
                      <a:pt x="244136" y="0"/>
                    </a:lnTo>
                    <a:cubicBezTo>
                      <a:pt x="278163" y="0"/>
                      <a:pt x="310796" y="13517"/>
                      <a:pt x="334857" y="37578"/>
                    </a:cubicBezTo>
                    <a:cubicBezTo>
                      <a:pt x="358918" y="61639"/>
                      <a:pt x="372435" y="94272"/>
                      <a:pt x="372435" y="128299"/>
                    </a:cubicBezTo>
                    <a:lnTo>
                      <a:pt x="372435" y="273357"/>
                    </a:lnTo>
                    <a:cubicBezTo>
                      <a:pt x="372435" y="307384"/>
                      <a:pt x="358918" y="340017"/>
                      <a:pt x="334857" y="364078"/>
                    </a:cubicBezTo>
                    <a:cubicBezTo>
                      <a:pt x="310796" y="388139"/>
                      <a:pt x="278163" y="401656"/>
                      <a:pt x="244136" y="401656"/>
                    </a:cubicBezTo>
                    <a:lnTo>
                      <a:pt x="128299" y="401656"/>
                    </a:lnTo>
                    <a:cubicBezTo>
                      <a:pt x="94272" y="401656"/>
                      <a:pt x="61639" y="388139"/>
                      <a:pt x="37578" y="364078"/>
                    </a:cubicBezTo>
                    <a:cubicBezTo>
                      <a:pt x="13517" y="340017"/>
                      <a:pt x="0" y="307384"/>
                      <a:pt x="0" y="273357"/>
                    </a:cubicBezTo>
                    <a:lnTo>
                      <a:pt x="0" y="128299"/>
                    </a:lnTo>
                    <a:cubicBezTo>
                      <a:pt x="0" y="94272"/>
                      <a:pt x="13517" y="61639"/>
                      <a:pt x="37578" y="37578"/>
                    </a:cubicBezTo>
                    <a:cubicBezTo>
                      <a:pt x="61639" y="13517"/>
                      <a:pt x="94272" y="0"/>
                      <a:pt x="128299" y="0"/>
                    </a:cubicBezTo>
                    <a:close/>
                  </a:path>
                </a:pathLst>
              </a:custGeom>
              <a:solidFill>
                <a:srgbClr val="F4F6FC"/>
              </a:solidFill>
              <a:ln w="47625" cap="sq">
                <a:solidFill>
                  <a:srgbClr val="000000"/>
                </a:solidFill>
                <a:prstDash val="solid"/>
                <a:miter/>
              </a:ln>
            </p:spPr>
          </p:sp>
          <p:sp>
            <p:nvSpPr>
              <p:cNvPr name="TextBox 41" id="41"/>
              <p:cNvSpPr txBox="true"/>
              <p:nvPr/>
            </p:nvSpPr>
            <p:spPr>
              <a:xfrm>
                <a:off x="0" y="-47625"/>
                <a:ext cx="372435" cy="449281"/>
              </a:xfrm>
              <a:prstGeom prst="rect">
                <a:avLst/>
              </a:prstGeom>
            </p:spPr>
            <p:txBody>
              <a:bodyPr anchor="ctr" rtlCol="false" tIns="32516" lIns="32516" bIns="32516" rIns="32516"/>
              <a:lstStyle/>
              <a:p>
                <a:pPr algn="ctr">
                  <a:lnSpc>
                    <a:spcPts val="2939"/>
                  </a:lnSpc>
                </a:pPr>
              </a:p>
            </p:txBody>
          </p:sp>
        </p:grpSp>
        <p:grpSp>
          <p:nvGrpSpPr>
            <p:cNvPr name="Group 42" id="42"/>
            <p:cNvGrpSpPr/>
            <p:nvPr/>
          </p:nvGrpSpPr>
          <p:grpSpPr>
            <a:xfrm rot="0">
              <a:off x="1336047" y="3597056"/>
              <a:ext cx="627946" cy="1301545"/>
              <a:chOff x="0" y="0"/>
              <a:chExt cx="193784" cy="401656"/>
            </a:xfrm>
          </p:grpSpPr>
          <p:sp>
            <p:nvSpPr>
              <p:cNvPr name="Freeform 43" id="43"/>
              <p:cNvSpPr/>
              <p:nvPr/>
            </p:nvSpPr>
            <p:spPr>
              <a:xfrm flipH="false" flipV="false" rot="0">
                <a:off x="0" y="0"/>
                <a:ext cx="193784" cy="401656"/>
              </a:xfrm>
              <a:custGeom>
                <a:avLst/>
                <a:gdLst/>
                <a:ahLst/>
                <a:cxnLst/>
                <a:rect r="r" b="b" t="t" l="l"/>
                <a:pathLst>
                  <a:path h="401656" w="193784">
                    <a:moveTo>
                      <a:pt x="96892" y="0"/>
                    </a:moveTo>
                    <a:lnTo>
                      <a:pt x="96892" y="0"/>
                    </a:lnTo>
                    <a:cubicBezTo>
                      <a:pt x="150404" y="0"/>
                      <a:pt x="193784" y="43380"/>
                      <a:pt x="193784" y="96892"/>
                    </a:cubicBezTo>
                    <a:lnTo>
                      <a:pt x="193784" y="304764"/>
                    </a:lnTo>
                    <a:cubicBezTo>
                      <a:pt x="193784" y="358276"/>
                      <a:pt x="150404" y="401656"/>
                      <a:pt x="96892" y="401656"/>
                    </a:cubicBezTo>
                    <a:lnTo>
                      <a:pt x="96892" y="401656"/>
                    </a:lnTo>
                    <a:cubicBezTo>
                      <a:pt x="43380" y="401656"/>
                      <a:pt x="0" y="358276"/>
                      <a:pt x="0" y="304764"/>
                    </a:cubicBezTo>
                    <a:lnTo>
                      <a:pt x="0" y="96892"/>
                    </a:lnTo>
                    <a:cubicBezTo>
                      <a:pt x="0" y="43380"/>
                      <a:pt x="43380" y="0"/>
                      <a:pt x="96892" y="0"/>
                    </a:cubicBezTo>
                    <a:close/>
                  </a:path>
                </a:pathLst>
              </a:custGeom>
              <a:solidFill>
                <a:srgbClr val="F4F6FC"/>
              </a:solidFill>
              <a:ln w="47625" cap="sq">
                <a:solidFill>
                  <a:srgbClr val="000000"/>
                </a:solidFill>
                <a:prstDash val="solid"/>
                <a:miter/>
              </a:ln>
            </p:spPr>
          </p:sp>
          <p:sp>
            <p:nvSpPr>
              <p:cNvPr name="TextBox 44" id="44"/>
              <p:cNvSpPr txBox="true"/>
              <p:nvPr/>
            </p:nvSpPr>
            <p:spPr>
              <a:xfrm>
                <a:off x="0" y="-47625"/>
                <a:ext cx="193784" cy="449281"/>
              </a:xfrm>
              <a:prstGeom prst="rect">
                <a:avLst/>
              </a:prstGeom>
            </p:spPr>
            <p:txBody>
              <a:bodyPr anchor="ctr" rtlCol="false" tIns="32516" lIns="32516" bIns="32516" rIns="32516"/>
              <a:lstStyle/>
              <a:p>
                <a:pPr algn="ctr">
                  <a:lnSpc>
                    <a:spcPts val="2939"/>
                  </a:lnSpc>
                </a:pPr>
              </a:p>
            </p:txBody>
          </p:sp>
        </p:grpSp>
        <p:grpSp>
          <p:nvGrpSpPr>
            <p:cNvPr name="Group 45" id="45"/>
            <p:cNvGrpSpPr/>
            <p:nvPr/>
          </p:nvGrpSpPr>
          <p:grpSpPr>
            <a:xfrm rot="0">
              <a:off x="1929516" y="3597056"/>
              <a:ext cx="627946" cy="1301545"/>
              <a:chOff x="0" y="0"/>
              <a:chExt cx="193784" cy="401656"/>
            </a:xfrm>
          </p:grpSpPr>
          <p:sp>
            <p:nvSpPr>
              <p:cNvPr name="Freeform 46" id="46"/>
              <p:cNvSpPr/>
              <p:nvPr/>
            </p:nvSpPr>
            <p:spPr>
              <a:xfrm flipH="false" flipV="false" rot="0">
                <a:off x="0" y="0"/>
                <a:ext cx="193784" cy="401656"/>
              </a:xfrm>
              <a:custGeom>
                <a:avLst/>
                <a:gdLst/>
                <a:ahLst/>
                <a:cxnLst/>
                <a:rect r="r" b="b" t="t" l="l"/>
                <a:pathLst>
                  <a:path h="401656" w="193784">
                    <a:moveTo>
                      <a:pt x="96892" y="0"/>
                    </a:moveTo>
                    <a:lnTo>
                      <a:pt x="96892" y="0"/>
                    </a:lnTo>
                    <a:cubicBezTo>
                      <a:pt x="150404" y="0"/>
                      <a:pt x="193784" y="43380"/>
                      <a:pt x="193784" y="96892"/>
                    </a:cubicBezTo>
                    <a:lnTo>
                      <a:pt x="193784" y="304764"/>
                    </a:lnTo>
                    <a:cubicBezTo>
                      <a:pt x="193784" y="358276"/>
                      <a:pt x="150404" y="401656"/>
                      <a:pt x="96892" y="401656"/>
                    </a:cubicBezTo>
                    <a:lnTo>
                      <a:pt x="96892" y="401656"/>
                    </a:lnTo>
                    <a:cubicBezTo>
                      <a:pt x="43380" y="401656"/>
                      <a:pt x="0" y="358276"/>
                      <a:pt x="0" y="304764"/>
                    </a:cubicBezTo>
                    <a:lnTo>
                      <a:pt x="0" y="96892"/>
                    </a:lnTo>
                    <a:cubicBezTo>
                      <a:pt x="0" y="43380"/>
                      <a:pt x="43380" y="0"/>
                      <a:pt x="96892" y="0"/>
                    </a:cubicBezTo>
                    <a:close/>
                  </a:path>
                </a:pathLst>
              </a:custGeom>
              <a:solidFill>
                <a:srgbClr val="F4F6FC"/>
              </a:solidFill>
              <a:ln w="47625" cap="sq">
                <a:solidFill>
                  <a:srgbClr val="000000"/>
                </a:solidFill>
                <a:prstDash val="solid"/>
                <a:miter/>
              </a:ln>
            </p:spPr>
          </p:sp>
          <p:sp>
            <p:nvSpPr>
              <p:cNvPr name="TextBox 47" id="47"/>
              <p:cNvSpPr txBox="true"/>
              <p:nvPr/>
            </p:nvSpPr>
            <p:spPr>
              <a:xfrm>
                <a:off x="0" y="-47625"/>
                <a:ext cx="193784" cy="449281"/>
              </a:xfrm>
              <a:prstGeom prst="rect">
                <a:avLst/>
              </a:prstGeom>
            </p:spPr>
            <p:txBody>
              <a:bodyPr anchor="ctr" rtlCol="false" tIns="32516" lIns="32516" bIns="32516" rIns="32516"/>
              <a:lstStyle/>
              <a:p>
                <a:pPr algn="ctr">
                  <a:lnSpc>
                    <a:spcPts val="2939"/>
                  </a:lnSpc>
                </a:pPr>
              </a:p>
            </p:txBody>
          </p:sp>
        </p:grpSp>
        <p:grpSp>
          <p:nvGrpSpPr>
            <p:cNvPr name="Group 48" id="48"/>
            <p:cNvGrpSpPr/>
            <p:nvPr/>
          </p:nvGrpSpPr>
          <p:grpSpPr>
            <a:xfrm rot="0">
              <a:off x="2522984" y="3597056"/>
              <a:ext cx="627946" cy="1301545"/>
              <a:chOff x="0" y="0"/>
              <a:chExt cx="193784" cy="401656"/>
            </a:xfrm>
          </p:grpSpPr>
          <p:sp>
            <p:nvSpPr>
              <p:cNvPr name="Freeform 49" id="49"/>
              <p:cNvSpPr/>
              <p:nvPr/>
            </p:nvSpPr>
            <p:spPr>
              <a:xfrm flipH="false" flipV="false" rot="0">
                <a:off x="0" y="0"/>
                <a:ext cx="193784" cy="401656"/>
              </a:xfrm>
              <a:custGeom>
                <a:avLst/>
                <a:gdLst/>
                <a:ahLst/>
                <a:cxnLst/>
                <a:rect r="r" b="b" t="t" l="l"/>
                <a:pathLst>
                  <a:path h="401656" w="193784">
                    <a:moveTo>
                      <a:pt x="96892" y="0"/>
                    </a:moveTo>
                    <a:lnTo>
                      <a:pt x="96892" y="0"/>
                    </a:lnTo>
                    <a:cubicBezTo>
                      <a:pt x="150404" y="0"/>
                      <a:pt x="193784" y="43380"/>
                      <a:pt x="193784" y="96892"/>
                    </a:cubicBezTo>
                    <a:lnTo>
                      <a:pt x="193784" y="304764"/>
                    </a:lnTo>
                    <a:cubicBezTo>
                      <a:pt x="193784" y="358276"/>
                      <a:pt x="150404" y="401656"/>
                      <a:pt x="96892" y="401656"/>
                    </a:cubicBezTo>
                    <a:lnTo>
                      <a:pt x="96892" y="401656"/>
                    </a:lnTo>
                    <a:cubicBezTo>
                      <a:pt x="43380" y="401656"/>
                      <a:pt x="0" y="358276"/>
                      <a:pt x="0" y="304764"/>
                    </a:cubicBezTo>
                    <a:lnTo>
                      <a:pt x="0" y="96892"/>
                    </a:lnTo>
                    <a:cubicBezTo>
                      <a:pt x="0" y="43380"/>
                      <a:pt x="43380" y="0"/>
                      <a:pt x="96892" y="0"/>
                    </a:cubicBezTo>
                    <a:close/>
                  </a:path>
                </a:pathLst>
              </a:custGeom>
              <a:solidFill>
                <a:srgbClr val="F4F6FC"/>
              </a:solidFill>
              <a:ln w="47625" cap="sq">
                <a:solidFill>
                  <a:srgbClr val="000000"/>
                </a:solidFill>
                <a:prstDash val="solid"/>
                <a:miter/>
              </a:ln>
            </p:spPr>
          </p:sp>
          <p:sp>
            <p:nvSpPr>
              <p:cNvPr name="TextBox 50" id="50"/>
              <p:cNvSpPr txBox="true"/>
              <p:nvPr/>
            </p:nvSpPr>
            <p:spPr>
              <a:xfrm>
                <a:off x="0" y="-47625"/>
                <a:ext cx="193784" cy="449281"/>
              </a:xfrm>
              <a:prstGeom prst="rect">
                <a:avLst/>
              </a:prstGeom>
            </p:spPr>
            <p:txBody>
              <a:bodyPr anchor="ctr" rtlCol="false" tIns="32516" lIns="32516" bIns="32516" rIns="32516"/>
              <a:lstStyle/>
              <a:p>
                <a:pPr algn="ctr">
                  <a:lnSpc>
                    <a:spcPts val="2939"/>
                  </a:lnSpc>
                </a:pPr>
              </a:p>
            </p:txBody>
          </p:sp>
        </p:grpSp>
        <p:grpSp>
          <p:nvGrpSpPr>
            <p:cNvPr name="Group 51" id="51"/>
            <p:cNvGrpSpPr/>
            <p:nvPr/>
          </p:nvGrpSpPr>
          <p:grpSpPr>
            <a:xfrm rot="0">
              <a:off x="3116453" y="3597056"/>
              <a:ext cx="627946" cy="1301545"/>
              <a:chOff x="0" y="0"/>
              <a:chExt cx="193784" cy="401656"/>
            </a:xfrm>
          </p:grpSpPr>
          <p:sp>
            <p:nvSpPr>
              <p:cNvPr name="Freeform 52" id="52"/>
              <p:cNvSpPr/>
              <p:nvPr/>
            </p:nvSpPr>
            <p:spPr>
              <a:xfrm flipH="false" flipV="false" rot="0">
                <a:off x="0" y="0"/>
                <a:ext cx="193784" cy="401656"/>
              </a:xfrm>
              <a:custGeom>
                <a:avLst/>
                <a:gdLst/>
                <a:ahLst/>
                <a:cxnLst/>
                <a:rect r="r" b="b" t="t" l="l"/>
                <a:pathLst>
                  <a:path h="401656" w="193784">
                    <a:moveTo>
                      <a:pt x="96892" y="0"/>
                    </a:moveTo>
                    <a:lnTo>
                      <a:pt x="96892" y="0"/>
                    </a:lnTo>
                    <a:cubicBezTo>
                      <a:pt x="150404" y="0"/>
                      <a:pt x="193784" y="43380"/>
                      <a:pt x="193784" y="96892"/>
                    </a:cubicBezTo>
                    <a:lnTo>
                      <a:pt x="193784" y="304764"/>
                    </a:lnTo>
                    <a:cubicBezTo>
                      <a:pt x="193784" y="358276"/>
                      <a:pt x="150404" y="401656"/>
                      <a:pt x="96892" y="401656"/>
                    </a:cubicBezTo>
                    <a:lnTo>
                      <a:pt x="96892" y="401656"/>
                    </a:lnTo>
                    <a:cubicBezTo>
                      <a:pt x="43380" y="401656"/>
                      <a:pt x="0" y="358276"/>
                      <a:pt x="0" y="304764"/>
                    </a:cubicBezTo>
                    <a:lnTo>
                      <a:pt x="0" y="96892"/>
                    </a:lnTo>
                    <a:cubicBezTo>
                      <a:pt x="0" y="43380"/>
                      <a:pt x="43380" y="0"/>
                      <a:pt x="96892" y="0"/>
                    </a:cubicBezTo>
                    <a:close/>
                  </a:path>
                </a:pathLst>
              </a:custGeom>
              <a:solidFill>
                <a:srgbClr val="F4F6FC"/>
              </a:solidFill>
              <a:ln w="47625" cap="sq">
                <a:solidFill>
                  <a:srgbClr val="000000"/>
                </a:solidFill>
                <a:prstDash val="solid"/>
                <a:miter/>
              </a:ln>
            </p:spPr>
          </p:sp>
          <p:sp>
            <p:nvSpPr>
              <p:cNvPr name="TextBox 53" id="53"/>
              <p:cNvSpPr txBox="true"/>
              <p:nvPr/>
            </p:nvSpPr>
            <p:spPr>
              <a:xfrm>
                <a:off x="0" y="-47625"/>
                <a:ext cx="193784" cy="449281"/>
              </a:xfrm>
              <a:prstGeom prst="rect">
                <a:avLst/>
              </a:prstGeom>
            </p:spPr>
            <p:txBody>
              <a:bodyPr anchor="ctr" rtlCol="false" tIns="32516" lIns="32516" bIns="32516" rIns="32516"/>
              <a:lstStyle/>
              <a:p>
                <a:pPr algn="ctr">
                  <a:lnSpc>
                    <a:spcPts val="2939"/>
                  </a:lnSpc>
                </a:pPr>
              </a:p>
            </p:txBody>
          </p:sp>
        </p:grpSp>
        <p:grpSp>
          <p:nvGrpSpPr>
            <p:cNvPr name="Group 54" id="54"/>
            <p:cNvGrpSpPr/>
            <p:nvPr/>
          </p:nvGrpSpPr>
          <p:grpSpPr>
            <a:xfrm rot="0">
              <a:off x="3709921" y="3597056"/>
              <a:ext cx="627946" cy="1301545"/>
              <a:chOff x="0" y="0"/>
              <a:chExt cx="193784" cy="401656"/>
            </a:xfrm>
          </p:grpSpPr>
          <p:sp>
            <p:nvSpPr>
              <p:cNvPr name="Freeform 55" id="55"/>
              <p:cNvSpPr/>
              <p:nvPr/>
            </p:nvSpPr>
            <p:spPr>
              <a:xfrm flipH="false" flipV="false" rot="0">
                <a:off x="0" y="0"/>
                <a:ext cx="193784" cy="401656"/>
              </a:xfrm>
              <a:custGeom>
                <a:avLst/>
                <a:gdLst/>
                <a:ahLst/>
                <a:cxnLst/>
                <a:rect r="r" b="b" t="t" l="l"/>
                <a:pathLst>
                  <a:path h="401656" w="193784">
                    <a:moveTo>
                      <a:pt x="96892" y="0"/>
                    </a:moveTo>
                    <a:lnTo>
                      <a:pt x="96892" y="0"/>
                    </a:lnTo>
                    <a:cubicBezTo>
                      <a:pt x="150404" y="0"/>
                      <a:pt x="193784" y="43380"/>
                      <a:pt x="193784" y="96892"/>
                    </a:cubicBezTo>
                    <a:lnTo>
                      <a:pt x="193784" y="304764"/>
                    </a:lnTo>
                    <a:cubicBezTo>
                      <a:pt x="193784" y="358276"/>
                      <a:pt x="150404" y="401656"/>
                      <a:pt x="96892" y="401656"/>
                    </a:cubicBezTo>
                    <a:lnTo>
                      <a:pt x="96892" y="401656"/>
                    </a:lnTo>
                    <a:cubicBezTo>
                      <a:pt x="43380" y="401656"/>
                      <a:pt x="0" y="358276"/>
                      <a:pt x="0" y="304764"/>
                    </a:cubicBezTo>
                    <a:lnTo>
                      <a:pt x="0" y="96892"/>
                    </a:lnTo>
                    <a:cubicBezTo>
                      <a:pt x="0" y="43380"/>
                      <a:pt x="43380" y="0"/>
                      <a:pt x="96892" y="0"/>
                    </a:cubicBezTo>
                    <a:close/>
                  </a:path>
                </a:pathLst>
              </a:custGeom>
              <a:solidFill>
                <a:srgbClr val="F4F6FC"/>
              </a:solidFill>
              <a:ln w="47625" cap="sq">
                <a:solidFill>
                  <a:srgbClr val="000000"/>
                </a:solidFill>
                <a:prstDash val="solid"/>
                <a:miter/>
              </a:ln>
            </p:spPr>
          </p:sp>
          <p:sp>
            <p:nvSpPr>
              <p:cNvPr name="TextBox 56" id="56"/>
              <p:cNvSpPr txBox="true"/>
              <p:nvPr/>
            </p:nvSpPr>
            <p:spPr>
              <a:xfrm>
                <a:off x="0" y="-47625"/>
                <a:ext cx="193784" cy="449281"/>
              </a:xfrm>
              <a:prstGeom prst="rect">
                <a:avLst/>
              </a:prstGeom>
            </p:spPr>
            <p:txBody>
              <a:bodyPr anchor="ctr" rtlCol="false" tIns="32516" lIns="32516" bIns="32516" rIns="32516"/>
              <a:lstStyle/>
              <a:p>
                <a:pPr algn="ctr">
                  <a:lnSpc>
                    <a:spcPts val="2939"/>
                  </a:lnSpc>
                </a:pPr>
              </a:p>
            </p:txBody>
          </p:sp>
        </p:grpSp>
        <p:grpSp>
          <p:nvGrpSpPr>
            <p:cNvPr name="Group 57" id="57"/>
            <p:cNvGrpSpPr/>
            <p:nvPr/>
          </p:nvGrpSpPr>
          <p:grpSpPr>
            <a:xfrm rot="0">
              <a:off x="2149920" y="1855620"/>
              <a:ext cx="1415160" cy="1526193"/>
              <a:chOff x="0" y="0"/>
              <a:chExt cx="436718" cy="470982"/>
            </a:xfrm>
          </p:grpSpPr>
          <p:sp>
            <p:nvSpPr>
              <p:cNvPr name="Freeform 58" id="58"/>
              <p:cNvSpPr/>
              <p:nvPr/>
            </p:nvSpPr>
            <p:spPr>
              <a:xfrm flipH="false" flipV="false" rot="0">
                <a:off x="0" y="0"/>
                <a:ext cx="436718" cy="470982"/>
              </a:xfrm>
              <a:custGeom>
                <a:avLst/>
                <a:gdLst/>
                <a:ahLst/>
                <a:cxnLst/>
                <a:rect r="r" b="b" t="t" l="l"/>
                <a:pathLst>
                  <a:path h="470982" w="436718">
                    <a:moveTo>
                      <a:pt x="109414" y="0"/>
                    </a:moveTo>
                    <a:lnTo>
                      <a:pt x="327304" y="0"/>
                    </a:lnTo>
                    <a:cubicBezTo>
                      <a:pt x="356322" y="0"/>
                      <a:pt x="384152" y="11528"/>
                      <a:pt x="404671" y="32047"/>
                    </a:cubicBezTo>
                    <a:cubicBezTo>
                      <a:pt x="425190" y="52566"/>
                      <a:pt x="436718" y="80396"/>
                      <a:pt x="436718" y="109414"/>
                    </a:cubicBezTo>
                    <a:lnTo>
                      <a:pt x="436718" y="361568"/>
                    </a:lnTo>
                    <a:cubicBezTo>
                      <a:pt x="436718" y="421996"/>
                      <a:pt x="387731" y="470982"/>
                      <a:pt x="327304" y="470982"/>
                    </a:cubicBezTo>
                    <a:lnTo>
                      <a:pt x="109414" y="470982"/>
                    </a:lnTo>
                    <a:cubicBezTo>
                      <a:pt x="48986" y="470982"/>
                      <a:pt x="0" y="421996"/>
                      <a:pt x="0" y="361568"/>
                    </a:cubicBezTo>
                    <a:lnTo>
                      <a:pt x="0" y="109414"/>
                    </a:lnTo>
                    <a:cubicBezTo>
                      <a:pt x="0" y="48986"/>
                      <a:pt x="48986" y="0"/>
                      <a:pt x="109414" y="0"/>
                    </a:cubicBezTo>
                    <a:close/>
                  </a:path>
                </a:pathLst>
              </a:custGeom>
              <a:solidFill>
                <a:srgbClr val="F4F6FC"/>
              </a:solidFill>
              <a:ln w="47625" cap="sq">
                <a:solidFill>
                  <a:srgbClr val="000000"/>
                </a:solidFill>
                <a:prstDash val="solid"/>
                <a:miter/>
              </a:ln>
            </p:spPr>
          </p:sp>
          <p:sp>
            <p:nvSpPr>
              <p:cNvPr name="TextBox 59" id="59"/>
              <p:cNvSpPr txBox="true"/>
              <p:nvPr/>
            </p:nvSpPr>
            <p:spPr>
              <a:xfrm>
                <a:off x="0" y="-47625"/>
                <a:ext cx="436718" cy="518607"/>
              </a:xfrm>
              <a:prstGeom prst="rect">
                <a:avLst/>
              </a:prstGeom>
            </p:spPr>
            <p:txBody>
              <a:bodyPr anchor="ctr" rtlCol="false" tIns="32516" lIns="32516" bIns="32516" rIns="32516"/>
              <a:lstStyle/>
              <a:p>
                <a:pPr algn="ctr">
                  <a:lnSpc>
                    <a:spcPts val="2939"/>
                  </a:lnSpc>
                </a:pPr>
              </a:p>
            </p:txBody>
          </p:sp>
        </p:gr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206819" y="1400052"/>
            <a:ext cx="13874363" cy="1576069"/>
          </a:xfrm>
          <a:prstGeom prst="rect">
            <a:avLst/>
          </a:prstGeom>
        </p:spPr>
        <p:txBody>
          <a:bodyPr anchor="t" rtlCol="false" tIns="0" lIns="0" bIns="0" rIns="0">
            <a:spAutoFit/>
          </a:bodyPr>
          <a:lstStyle/>
          <a:p>
            <a:pPr algn="ctr">
              <a:lnSpc>
                <a:spcPts val="12880"/>
              </a:lnSpc>
            </a:pPr>
            <a:r>
              <a:rPr lang="en-US" b="true" sz="9200">
                <a:solidFill>
                  <a:srgbClr val="000000"/>
                </a:solidFill>
                <a:latin typeface="HK Grotesk Bold"/>
                <a:ea typeface="HK Grotesk Bold"/>
                <a:cs typeface="HK Grotesk Bold"/>
                <a:sym typeface="HK Grotesk Bold"/>
              </a:rPr>
              <a:t>Content</a:t>
            </a:r>
          </a:p>
        </p:txBody>
      </p:sp>
      <p:grpSp>
        <p:nvGrpSpPr>
          <p:cNvPr name="Group 15" id="15"/>
          <p:cNvGrpSpPr/>
          <p:nvPr/>
        </p:nvGrpSpPr>
        <p:grpSpPr>
          <a:xfrm rot="0">
            <a:off x="2206819" y="3795461"/>
            <a:ext cx="13963171" cy="1047750"/>
            <a:chOff x="0" y="0"/>
            <a:chExt cx="18617561" cy="1397000"/>
          </a:xfrm>
        </p:grpSpPr>
        <p:grpSp>
          <p:nvGrpSpPr>
            <p:cNvPr name="Group 16" id="16"/>
            <p:cNvGrpSpPr/>
            <p:nvPr/>
          </p:nvGrpSpPr>
          <p:grpSpPr>
            <a:xfrm rot="0">
              <a:off x="0" y="0"/>
              <a:ext cx="18617561" cy="1397000"/>
              <a:chOff x="0" y="0"/>
              <a:chExt cx="3677543" cy="275951"/>
            </a:xfrm>
          </p:grpSpPr>
          <p:sp>
            <p:nvSpPr>
              <p:cNvPr name="Freeform 17" id="1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18" id="1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Understand the role of Boolean logic in computer systems</a:t>
              </a:r>
            </a:p>
          </p:txBody>
        </p:sp>
      </p:grpSp>
      <p:grpSp>
        <p:nvGrpSpPr>
          <p:cNvPr name="Group 20" id="20"/>
          <p:cNvGrpSpPr/>
          <p:nvPr/>
        </p:nvGrpSpPr>
        <p:grpSpPr>
          <a:xfrm rot="0">
            <a:off x="2206819" y="5478942"/>
            <a:ext cx="13963171" cy="1047750"/>
            <a:chOff x="0" y="0"/>
            <a:chExt cx="18617561" cy="1397000"/>
          </a:xfrm>
        </p:grpSpPr>
        <p:grpSp>
          <p:nvGrpSpPr>
            <p:cNvPr name="Group 21" id="21"/>
            <p:cNvGrpSpPr/>
            <p:nvPr/>
          </p:nvGrpSpPr>
          <p:grpSpPr>
            <a:xfrm rot="0">
              <a:off x="0" y="0"/>
              <a:ext cx="18617561" cy="1397000"/>
              <a:chOff x="0" y="0"/>
              <a:chExt cx="3677543" cy="275951"/>
            </a:xfrm>
          </p:grpSpPr>
          <p:sp>
            <p:nvSpPr>
              <p:cNvPr name="Freeform 22" id="22"/>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3" id="23"/>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Identify common logic gates: AND, OR, NOT, XOR</a:t>
              </a:r>
            </a:p>
          </p:txBody>
        </p:sp>
      </p:grpSp>
      <p:grpSp>
        <p:nvGrpSpPr>
          <p:cNvPr name="Group 25" id="25"/>
          <p:cNvGrpSpPr/>
          <p:nvPr/>
        </p:nvGrpSpPr>
        <p:grpSpPr>
          <a:xfrm rot="0">
            <a:off x="2206819" y="7162423"/>
            <a:ext cx="13963171" cy="1047750"/>
            <a:chOff x="0" y="0"/>
            <a:chExt cx="18617561" cy="1397000"/>
          </a:xfrm>
        </p:grpSpPr>
        <p:grpSp>
          <p:nvGrpSpPr>
            <p:cNvPr name="Group 26" id="26"/>
            <p:cNvGrpSpPr/>
            <p:nvPr/>
          </p:nvGrpSpPr>
          <p:grpSpPr>
            <a:xfrm rot="0">
              <a:off x="0" y="0"/>
              <a:ext cx="18617561" cy="1397000"/>
              <a:chOff x="0" y="0"/>
              <a:chExt cx="3677543" cy="275951"/>
            </a:xfrm>
          </p:grpSpPr>
          <p:sp>
            <p:nvSpPr>
              <p:cNvPr name="Freeform 27" id="27"/>
              <p:cNvSpPr/>
              <p:nvPr/>
            </p:nvSpPr>
            <p:spPr>
              <a:xfrm flipH="false" flipV="false" rot="0">
                <a:off x="0" y="0"/>
                <a:ext cx="3677543" cy="275951"/>
              </a:xfrm>
              <a:custGeom>
                <a:avLst/>
                <a:gdLst/>
                <a:ahLst/>
                <a:cxnLst/>
                <a:rect r="r" b="b" t="t" l="l"/>
                <a:pathLst>
                  <a:path h="275951" w="3677543">
                    <a:moveTo>
                      <a:pt x="11089" y="0"/>
                    </a:moveTo>
                    <a:lnTo>
                      <a:pt x="3666454" y="0"/>
                    </a:lnTo>
                    <a:cubicBezTo>
                      <a:pt x="3672578" y="0"/>
                      <a:pt x="3677543" y="4965"/>
                      <a:pt x="3677543" y="11089"/>
                    </a:cubicBezTo>
                    <a:lnTo>
                      <a:pt x="3677543" y="264862"/>
                    </a:lnTo>
                    <a:cubicBezTo>
                      <a:pt x="3677543" y="270986"/>
                      <a:pt x="3672578" y="275951"/>
                      <a:pt x="3666454" y="275951"/>
                    </a:cubicBezTo>
                    <a:lnTo>
                      <a:pt x="11089" y="275951"/>
                    </a:lnTo>
                    <a:cubicBezTo>
                      <a:pt x="8148" y="275951"/>
                      <a:pt x="5328" y="274782"/>
                      <a:pt x="3248" y="272703"/>
                    </a:cubicBezTo>
                    <a:cubicBezTo>
                      <a:pt x="1168" y="270623"/>
                      <a:pt x="0" y="267803"/>
                      <a:pt x="0" y="264862"/>
                    </a:cubicBezTo>
                    <a:lnTo>
                      <a:pt x="0" y="11089"/>
                    </a:lnTo>
                    <a:cubicBezTo>
                      <a:pt x="0" y="4965"/>
                      <a:pt x="4965" y="0"/>
                      <a:pt x="11089" y="0"/>
                    </a:cubicBezTo>
                    <a:close/>
                  </a:path>
                </a:pathLst>
              </a:custGeom>
              <a:solidFill>
                <a:srgbClr val="CAE8FF"/>
              </a:solidFill>
            </p:spPr>
          </p:sp>
          <p:sp>
            <p:nvSpPr>
              <p:cNvPr name="TextBox 28" id="28"/>
              <p:cNvSpPr txBox="true"/>
              <p:nvPr/>
            </p:nvSpPr>
            <p:spPr>
              <a:xfrm>
                <a:off x="0" y="-38100"/>
                <a:ext cx="3677543" cy="314051"/>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12413" y="257810"/>
              <a:ext cx="17044331" cy="805180"/>
            </a:xfrm>
            <a:prstGeom prst="rect">
              <a:avLst/>
            </a:prstGeom>
          </p:spPr>
          <p:txBody>
            <a:bodyPr anchor="t" rtlCol="false" tIns="0" lIns="0" bIns="0" rIns="0">
              <a:spAutoFit/>
            </a:bodyPr>
            <a:lstStyle/>
            <a:p>
              <a:pPr algn="ctr">
                <a:lnSpc>
                  <a:spcPts val="5040"/>
                </a:lnSpc>
              </a:pPr>
              <a:r>
                <a:rPr lang="en-US" sz="3600">
                  <a:solidFill>
                    <a:srgbClr val="000000"/>
                  </a:solidFill>
                  <a:latin typeface="HK Grotesk"/>
                  <a:ea typeface="HK Grotesk"/>
                  <a:cs typeface="HK Grotesk"/>
                  <a:sym typeface="HK Grotesk"/>
                </a:rPr>
                <a:t>Interpret truth tables for logic gates and logic circuits</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AutoShape 14" id="14"/>
          <p:cNvSpPr/>
          <p:nvPr/>
        </p:nvSpPr>
        <p:spPr>
          <a:xfrm>
            <a:off x="6609723" y="1767693"/>
            <a:ext cx="0" cy="2557781"/>
          </a:xfrm>
          <a:prstGeom prst="line">
            <a:avLst/>
          </a:prstGeom>
          <a:ln cap="flat" w="38100">
            <a:solidFill>
              <a:srgbClr val="000000"/>
            </a:solidFill>
            <a:prstDash val="solid"/>
            <a:headEnd type="none" len="sm" w="sm"/>
            <a:tailEnd type="none" len="sm" w="sm"/>
          </a:ln>
        </p:spPr>
      </p:sp>
      <p:sp>
        <p:nvSpPr>
          <p:cNvPr name="TextBox 15" id="15"/>
          <p:cNvSpPr txBox="true"/>
          <p:nvPr/>
        </p:nvSpPr>
        <p:spPr>
          <a:xfrm rot="0">
            <a:off x="2001356" y="1929618"/>
            <a:ext cx="3859225" cy="2395856"/>
          </a:xfrm>
          <a:prstGeom prst="rect">
            <a:avLst/>
          </a:prstGeom>
        </p:spPr>
        <p:txBody>
          <a:bodyPr anchor="t" rtlCol="false" tIns="0" lIns="0" bIns="0" rIns="0">
            <a:spAutoFit/>
          </a:bodyPr>
          <a:lstStyle/>
          <a:p>
            <a:pPr algn="l">
              <a:lnSpc>
                <a:spcPts val="9200"/>
              </a:lnSpc>
            </a:pPr>
            <a:r>
              <a:rPr lang="en-US" sz="9200" b="true">
                <a:solidFill>
                  <a:srgbClr val="000000"/>
                </a:solidFill>
                <a:latin typeface="HK Grotesk Bold"/>
                <a:ea typeface="HK Grotesk Bold"/>
                <a:cs typeface="HK Grotesk Bold"/>
                <a:sym typeface="HK Grotesk Bold"/>
              </a:rPr>
              <a:t>Logic Gates</a:t>
            </a:r>
          </a:p>
        </p:txBody>
      </p:sp>
      <p:sp>
        <p:nvSpPr>
          <p:cNvPr name="TextBox 16" id="16"/>
          <p:cNvSpPr txBox="true"/>
          <p:nvPr/>
        </p:nvSpPr>
        <p:spPr>
          <a:xfrm rot="0">
            <a:off x="7237894" y="2034394"/>
            <a:ext cx="9048750" cy="1967230"/>
          </a:xfrm>
          <a:prstGeom prst="rect">
            <a:avLst/>
          </a:prstGeom>
        </p:spPr>
        <p:txBody>
          <a:bodyPr anchor="t" rtlCol="false" tIns="0" lIns="0" bIns="0" rIns="0">
            <a:spAutoFit/>
          </a:bodyPr>
          <a:lstStyle/>
          <a:p>
            <a:pPr algn="l">
              <a:lnSpc>
                <a:spcPts val="3919"/>
              </a:lnSpc>
            </a:pPr>
            <a:r>
              <a:rPr lang="en-US" sz="2799">
                <a:solidFill>
                  <a:srgbClr val="000000"/>
                </a:solidFill>
                <a:latin typeface="HK Grotesk"/>
                <a:ea typeface="HK Grotesk"/>
                <a:cs typeface="HK Grotesk"/>
                <a:sym typeface="HK Grotesk"/>
              </a:rPr>
              <a:t>Boolean logic is represented using logic gate symbols.</a:t>
            </a:r>
          </a:p>
          <a:p>
            <a:pPr algn="l">
              <a:lnSpc>
                <a:spcPts val="3919"/>
              </a:lnSpc>
            </a:pPr>
          </a:p>
          <a:p>
            <a:pPr algn="l">
              <a:lnSpc>
                <a:spcPts val="3919"/>
              </a:lnSpc>
            </a:pPr>
            <a:r>
              <a:rPr lang="en-US" sz="2799">
                <a:solidFill>
                  <a:srgbClr val="000000"/>
                </a:solidFill>
                <a:latin typeface="HK Grotesk"/>
                <a:ea typeface="HK Grotesk"/>
                <a:cs typeface="HK Grotesk"/>
                <a:sym typeface="HK Grotesk"/>
              </a:rPr>
              <a:t>Logic gates use Boolean logic to take one or more binary inputs and produce a single binary output.</a:t>
            </a:r>
          </a:p>
        </p:txBody>
      </p:sp>
      <p:grpSp>
        <p:nvGrpSpPr>
          <p:cNvPr name="Group 17" id="17"/>
          <p:cNvGrpSpPr/>
          <p:nvPr/>
        </p:nvGrpSpPr>
        <p:grpSpPr>
          <a:xfrm rot="0">
            <a:off x="2001356" y="5030252"/>
            <a:ext cx="3325885" cy="2096567"/>
            <a:chOff x="0" y="0"/>
            <a:chExt cx="4434513" cy="2795422"/>
          </a:xfrm>
        </p:grpSpPr>
        <p:grpSp>
          <p:nvGrpSpPr>
            <p:cNvPr name="Group 18" id="18"/>
            <p:cNvGrpSpPr/>
            <p:nvPr/>
          </p:nvGrpSpPr>
          <p:grpSpPr>
            <a:xfrm rot="5400000">
              <a:off x="842001" y="60839"/>
              <a:ext cx="2795422" cy="2673744"/>
              <a:chOff x="0" y="0"/>
              <a:chExt cx="741755" cy="709468"/>
            </a:xfrm>
          </p:grpSpPr>
          <p:sp>
            <p:nvSpPr>
              <p:cNvPr name="Freeform 19" id="19"/>
              <p:cNvSpPr/>
              <p:nvPr/>
            </p:nvSpPr>
            <p:spPr>
              <a:xfrm flipH="false" flipV="false" rot="0">
                <a:off x="0" y="0"/>
                <a:ext cx="741755" cy="709468"/>
              </a:xfrm>
              <a:custGeom>
                <a:avLst/>
                <a:gdLst/>
                <a:ahLst/>
                <a:cxnLst/>
                <a:rect r="r" b="b" t="t" l="l"/>
                <a:pathLst>
                  <a:path h="709468" w="741755">
                    <a:moveTo>
                      <a:pt x="247385" y="19070"/>
                    </a:moveTo>
                    <a:cubicBezTo>
                      <a:pt x="285290" y="7556"/>
                      <a:pt x="328646" y="0"/>
                      <a:pt x="371077" y="0"/>
                    </a:cubicBezTo>
                    <a:cubicBezTo>
                      <a:pt x="413510" y="0"/>
                      <a:pt x="454341" y="6476"/>
                      <a:pt x="491968" y="17990"/>
                    </a:cubicBezTo>
                    <a:cubicBezTo>
                      <a:pt x="492769" y="18350"/>
                      <a:pt x="493570" y="18350"/>
                      <a:pt x="494370" y="18710"/>
                    </a:cubicBezTo>
                    <a:cubicBezTo>
                      <a:pt x="635676" y="64765"/>
                      <a:pt x="739754" y="186379"/>
                      <a:pt x="741755" y="326207"/>
                    </a:cubicBezTo>
                    <a:lnTo>
                      <a:pt x="741755" y="709468"/>
                    </a:lnTo>
                    <a:lnTo>
                      <a:pt x="0" y="709468"/>
                    </a:lnTo>
                    <a:lnTo>
                      <a:pt x="0" y="326491"/>
                    </a:lnTo>
                    <a:cubicBezTo>
                      <a:pt x="2001" y="185660"/>
                      <a:pt x="104478" y="64045"/>
                      <a:pt x="247385" y="19070"/>
                    </a:cubicBezTo>
                    <a:close/>
                  </a:path>
                </a:pathLst>
              </a:custGeom>
              <a:solidFill>
                <a:srgbClr val="000000">
                  <a:alpha val="0"/>
                </a:srgbClr>
              </a:solidFill>
              <a:ln w="95250" cap="sq">
                <a:solidFill>
                  <a:srgbClr val="000000"/>
                </a:solidFill>
                <a:prstDash val="solid"/>
                <a:miter/>
              </a:ln>
            </p:spPr>
          </p:sp>
          <p:sp>
            <p:nvSpPr>
              <p:cNvPr name="TextBox 20" id="20"/>
              <p:cNvSpPr txBox="true"/>
              <p:nvPr/>
            </p:nvSpPr>
            <p:spPr>
              <a:xfrm>
                <a:off x="0" y="79375"/>
                <a:ext cx="741755" cy="630093"/>
              </a:xfrm>
              <a:prstGeom prst="rect">
                <a:avLst/>
              </a:prstGeom>
            </p:spPr>
            <p:txBody>
              <a:bodyPr anchor="ctr" rtlCol="false" tIns="37817" lIns="37817" bIns="37817" rIns="37817"/>
              <a:lstStyle/>
              <a:p>
                <a:pPr algn="ctr">
                  <a:lnSpc>
                    <a:spcPts val="2940"/>
                  </a:lnSpc>
                </a:pPr>
              </a:p>
            </p:txBody>
          </p:sp>
        </p:grpSp>
        <p:sp>
          <p:nvSpPr>
            <p:cNvPr name="AutoShape 21" id="21"/>
            <p:cNvSpPr/>
            <p:nvPr/>
          </p:nvSpPr>
          <p:spPr>
            <a:xfrm>
              <a:off x="0" y="731189"/>
              <a:ext cx="947796" cy="0"/>
            </a:xfrm>
            <a:prstGeom prst="line">
              <a:avLst/>
            </a:prstGeom>
            <a:ln cap="flat" w="127000">
              <a:solidFill>
                <a:srgbClr val="000000"/>
              </a:solidFill>
              <a:prstDash val="solid"/>
              <a:headEnd type="none" len="sm" w="sm"/>
              <a:tailEnd type="none" len="sm" w="sm"/>
            </a:ln>
          </p:spPr>
        </p:sp>
        <p:sp>
          <p:nvSpPr>
            <p:cNvPr name="AutoShape 22" id="22"/>
            <p:cNvSpPr/>
            <p:nvPr/>
          </p:nvSpPr>
          <p:spPr>
            <a:xfrm>
              <a:off x="0" y="2064233"/>
              <a:ext cx="947796" cy="0"/>
            </a:xfrm>
            <a:prstGeom prst="line">
              <a:avLst/>
            </a:prstGeom>
            <a:ln cap="flat" w="127000">
              <a:solidFill>
                <a:srgbClr val="000000"/>
              </a:solidFill>
              <a:prstDash val="solid"/>
              <a:headEnd type="none" len="sm" w="sm"/>
              <a:tailEnd type="none" len="sm" w="sm"/>
            </a:ln>
          </p:spPr>
        </p:sp>
        <p:sp>
          <p:nvSpPr>
            <p:cNvPr name="AutoShape 23" id="23"/>
            <p:cNvSpPr/>
            <p:nvPr/>
          </p:nvSpPr>
          <p:spPr>
            <a:xfrm>
              <a:off x="3486717" y="1397711"/>
              <a:ext cx="947796" cy="0"/>
            </a:xfrm>
            <a:prstGeom prst="line">
              <a:avLst/>
            </a:prstGeom>
            <a:ln cap="flat" w="127000">
              <a:solidFill>
                <a:srgbClr val="000000"/>
              </a:solidFill>
              <a:prstDash val="solid"/>
              <a:headEnd type="none" len="sm" w="sm"/>
              <a:tailEnd type="none" len="sm" w="sm"/>
            </a:ln>
          </p:spPr>
        </p:sp>
      </p:grpSp>
      <p:grpSp>
        <p:nvGrpSpPr>
          <p:cNvPr name="Group 24" id="24"/>
          <p:cNvGrpSpPr/>
          <p:nvPr/>
        </p:nvGrpSpPr>
        <p:grpSpPr>
          <a:xfrm rot="0">
            <a:off x="5915081" y="6077848"/>
            <a:ext cx="2470906" cy="2098041"/>
            <a:chOff x="0" y="0"/>
            <a:chExt cx="3294542" cy="2797387"/>
          </a:xfrm>
        </p:grpSpPr>
        <p:sp>
          <p:nvSpPr>
            <p:cNvPr name="AutoShape 25" id="25"/>
            <p:cNvSpPr/>
            <p:nvPr/>
          </p:nvSpPr>
          <p:spPr>
            <a:xfrm flipH="true">
              <a:off x="345260" y="296928"/>
              <a:ext cx="10859" cy="2120127"/>
            </a:xfrm>
            <a:prstGeom prst="line">
              <a:avLst/>
            </a:prstGeom>
            <a:ln cap="flat" w="127000">
              <a:solidFill>
                <a:srgbClr val="000000"/>
              </a:solidFill>
              <a:prstDash val="solid"/>
              <a:headEnd type="none" len="sm" w="sm"/>
              <a:tailEnd type="none" len="sm" w="sm"/>
            </a:ln>
          </p:spPr>
        </p:sp>
        <p:sp>
          <p:nvSpPr>
            <p:cNvPr name="AutoShape 26" id="26"/>
            <p:cNvSpPr/>
            <p:nvPr/>
          </p:nvSpPr>
          <p:spPr>
            <a:xfrm flipV="true">
              <a:off x="429208" y="1339070"/>
              <a:ext cx="2237597" cy="919299"/>
            </a:xfrm>
            <a:prstGeom prst="line">
              <a:avLst/>
            </a:prstGeom>
            <a:ln cap="flat" w="127000">
              <a:solidFill>
                <a:srgbClr val="000000"/>
              </a:solidFill>
              <a:prstDash val="solid"/>
              <a:headEnd type="none" len="sm" w="sm"/>
              <a:tailEnd type="none" len="sm" w="sm"/>
            </a:ln>
          </p:spPr>
        </p:sp>
        <p:sp>
          <p:nvSpPr>
            <p:cNvPr name="AutoShape 27" id="27"/>
            <p:cNvSpPr/>
            <p:nvPr/>
          </p:nvSpPr>
          <p:spPr>
            <a:xfrm>
              <a:off x="429208" y="448335"/>
              <a:ext cx="2237597" cy="924548"/>
            </a:xfrm>
            <a:prstGeom prst="line">
              <a:avLst/>
            </a:prstGeom>
            <a:ln cap="flat" w="127000">
              <a:solidFill>
                <a:srgbClr val="000000"/>
              </a:solidFill>
              <a:prstDash val="solid"/>
              <a:headEnd type="none" len="sm" w="sm"/>
              <a:tailEnd type="none" len="sm" w="sm"/>
            </a:ln>
          </p:spPr>
        </p:sp>
        <p:sp>
          <p:nvSpPr>
            <p:cNvPr name="AutoShape 28" id="28"/>
            <p:cNvSpPr/>
            <p:nvPr/>
          </p:nvSpPr>
          <p:spPr>
            <a:xfrm>
              <a:off x="0" y="897624"/>
              <a:ext cx="627736" cy="0"/>
            </a:xfrm>
            <a:prstGeom prst="line">
              <a:avLst/>
            </a:prstGeom>
            <a:ln cap="flat" w="127000">
              <a:solidFill>
                <a:srgbClr val="000000"/>
              </a:solidFill>
              <a:prstDash val="solid"/>
              <a:headEnd type="none" len="sm" w="sm"/>
              <a:tailEnd type="none" len="sm" w="sm"/>
            </a:ln>
          </p:spPr>
        </p:sp>
        <p:sp>
          <p:nvSpPr>
            <p:cNvPr name="AutoShape 29" id="29"/>
            <p:cNvSpPr/>
            <p:nvPr/>
          </p:nvSpPr>
          <p:spPr>
            <a:xfrm>
              <a:off x="0" y="1780516"/>
              <a:ext cx="627736" cy="0"/>
            </a:xfrm>
            <a:prstGeom prst="line">
              <a:avLst/>
            </a:prstGeom>
            <a:ln cap="flat" w="127000">
              <a:solidFill>
                <a:srgbClr val="000000"/>
              </a:solidFill>
              <a:prstDash val="solid"/>
              <a:headEnd type="none" len="sm" w="sm"/>
              <a:tailEnd type="none" len="sm" w="sm"/>
            </a:ln>
          </p:spPr>
        </p:sp>
        <p:sp>
          <p:nvSpPr>
            <p:cNvPr name="AutoShape 30" id="30"/>
            <p:cNvSpPr/>
            <p:nvPr/>
          </p:nvSpPr>
          <p:spPr>
            <a:xfrm>
              <a:off x="2666805" y="1339070"/>
              <a:ext cx="627736" cy="0"/>
            </a:xfrm>
            <a:prstGeom prst="line">
              <a:avLst/>
            </a:prstGeom>
            <a:ln cap="flat" w="127000">
              <a:solidFill>
                <a:srgbClr val="000000"/>
              </a:solidFill>
              <a:prstDash val="solid"/>
              <a:headEnd type="none" len="sm" w="sm"/>
              <a:tailEnd type="none" len="sm" w="sm"/>
            </a:ln>
          </p:spPr>
        </p:sp>
      </p:grpSp>
      <p:grpSp>
        <p:nvGrpSpPr>
          <p:cNvPr name="Group 31" id="31"/>
          <p:cNvGrpSpPr/>
          <p:nvPr/>
        </p:nvGrpSpPr>
        <p:grpSpPr>
          <a:xfrm rot="0">
            <a:off x="13481629" y="6006216"/>
            <a:ext cx="2648482" cy="2241206"/>
            <a:chOff x="0" y="0"/>
            <a:chExt cx="3531309" cy="2988275"/>
          </a:xfrm>
        </p:grpSpPr>
        <p:sp>
          <p:nvSpPr>
            <p:cNvPr name="AutoShape 32" id="32"/>
            <p:cNvSpPr/>
            <p:nvPr/>
          </p:nvSpPr>
          <p:spPr>
            <a:xfrm flipH="true">
              <a:off x="370073" y="313258"/>
              <a:ext cx="11639" cy="2272493"/>
            </a:xfrm>
            <a:prstGeom prst="line">
              <a:avLst/>
            </a:prstGeom>
            <a:ln cap="flat" w="127000">
              <a:solidFill>
                <a:srgbClr val="000000"/>
              </a:solidFill>
              <a:prstDash val="solid"/>
              <a:headEnd type="none" len="sm" w="sm"/>
              <a:tailEnd type="none" len="sm" w="sm"/>
            </a:ln>
          </p:spPr>
        </p:sp>
        <p:sp>
          <p:nvSpPr>
            <p:cNvPr name="AutoShape 33" id="33"/>
            <p:cNvSpPr/>
            <p:nvPr/>
          </p:nvSpPr>
          <p:spPr>
            <a:xfrm flipV="true">
              <a:off x="460054" y="1430295"/>
              <a:ext cx="2398405" cy="985366"/>
            </a:xfrm>
            <a:prstGeom prst="line">
              <a:avLst/>
            </a:prstGeom>
            <a:ln cap="flat" w="127000">
              <a:solidFill>
                <a:srgbClr val="000000"/>
              </a:solidFill>
              <a:prstDash val="solid"/>
              <a:headEnd type="none" len="sm" w="sm"/>
              <a:tailEnd type="none" len="sm" w="sm"/>
            </a:ln>
          </p:spPr>
        </p:sp>
        <p:sp>
          <p:nvSpPr>
            <p:cNvPr name="AutoShape 34" id="34"/>
            <p:cNvSpPr/>
            <p:nvPr/>
          </p:nvSpPr>
          <p:spPr>
            <a:xfrm>
              <a:off x="460054" y="475546"/>
              <a:ext cx="2398405" cy="990992"/>
            </a:xfrm>
            <a:prstGeom prst="line">
              <a:avLst/>
            </a:prstGeom>
            <a:ln cap="flat" w="127000">
              <a:solidFill>
                <a:srgbClr val="000000"/>
              </a:solidFill>
              <a:prstDash val="solid"/>
              <a:headEnd type="none" len="sm" w="sm"/>
              <a:tailEnd type="none" len="sm" w="sm"/>
            </a:ln>
          </p:spPr>
        </p:sp>
        <p:sp>
          <p:nvSpPr>
            <p:cNvPr name="AutoShape 35" id="35"/>
            <p:cNvSpPr/>
            <p:nvPr/>
          </p:nvSpPr>
          <p:spPr>
            <a:xfrm>
              <a:off x="0" y="957124"/>
              <a:ext cx="672850" cy="0"/>
            </a:xfrm>
            <a:prstGeom prst="line">
              <a:avLst/>
            </a:prstGeom>
            <a:ln cap="flat" w="127000">
              <a:solidFill>
                <a:srgbClr val="000000"/>
              </a:solidFill>
              <a:prstDash val="solid"/>
              <a:headEnd type="none" len="sm" w="sm"/>
              <a:tailEnd type="none" len="sm" w="sm"/>
            </a:ln>
          </p:spPr>
        </p:sp>
        <p:sp>
          <p:nvSpPr>
            <p:cNvPr name="AutoShape 36" id="36"/>
            <p:cNvSpPr/>
            <p:nvPr/>
          </p:nvSpPr>
          <p:spPr>
            <a:xfrm>
              <a:off x="0" y="1903466"/>
              <a:ext cx="672850" cy="0"/>
            </a:xfrm>
            <a:prstGeom prst="line">
              <a:avLst/>
            </a:prstGeom>
            <a:ln cap="flat" w="127000">
              <a:solidFill>
                <a:srgbClr val="000000"/>
              </a:solidFill>
              <a:prstDash val="solid"/>
              <a:headEnd type="none" len="sm" w="sm"/>
              <a:tailEnd type="none" len="sm" w="sm"/>
            </a:ln>
          </p:spPr>
        </p:sp>
        <p:sp>
          <p:nvSpPr>
            <p:cNvPr name="AutoShape 37" id="37"/>
            <p:cNvSpPr/>
            <p:nvPr/>
          </p:nvSpPr>
          <p:spPr>
            <a:xfrm>
              <a:off x="2858459" y="1430295"/>
              <a:ext cx="672850" cy="0"/>
            </a:xfrm>
            <a:prstGeom prst="line">
              <a:avLst/>
            </a:prstGeom>
            <a:ln cap="flat" w="127000">
              <a:solidFill>
                <a:srgbClr val="000000"/>
              </a:solidFill>
              <a:prstDash val="solid"/>
              <a:headEnd type="none" len="sm" w="sm"/>
              <a:tailEnd type="none" len="sm" w="sm"/>
            </a:ln>
          </p:spPr>
        </p:sp>
        <p:sp>
          <p:nvSpPr>
            <p:cNvPr name="AutoShape 38" id="38"/>
            <p:cNvSpPr/>
            <p:nvPr/>
          </p:nvSpPr>
          <p:spPr>
            <a:xfrm flipH="true">
              <a:off x="104849" y="329360"/>
              <a:ext cx="11639" cy="2272493"/>
            </a:xfrm>
            <a:prstGeom prst="line">
              <a:avLst/>
            </a:prstGeom>
            <a:ln cap="flat" w="127000">
              <a:solidFill>
                <a:srgbClr val="000000"/>
              </a:solidFill>
              <a:prstDash val="solid"/>
              <a:headEnd type="none" len="sm" w="sm"/>
              <a:tailEnd type="none" len="sm" w="sm"/>
            </a:ln>
          </p:spPr>
        </p:sp>
      </p:grpSp>
      <p:grpSp>
        <p:nvGrpSpPr>
          <p:cNvPr name="Group 39" id="39"/>
          <p:cNvGrpSpPr/>
          <p:nvPr/>
        </p:nvGrpSpPr>
        <p:grpSpPr>
          <a:xfrm rot="0">
            <a:off x="8976538" y="4954228"/>
            <a:ext cx="3925181" cy="2247240"/>
            <a:chOff x="0" y="0"/>
            <a:chExt cx="5233574" cy="2996319"/>
          </a:xfrm>
        </p:grpSpPr>
        <p:grpSp>
          <p:nvGrpSpPr>
            <p:cNvPr name="Group 40" id="40"/>
            <p:cNvGrpSpPr/>
            <p:nvPr/>
          </p:nvGrpSpPr>
          <p:grpSpPr>
            <a:xfrm rot="-5400000">
              <a:off x="735552" y="187270"/>
              <a:ext cx="2996319" cy="2621780"/>
              <a:chOff x="0" y="0"/>
              <a:chExt cx="812800" cy="711200"/>
            </a:xfrm>
          </p:grpSpPr>
          <p:sp>
            <p:nvSpPr>
              <p:cNvPr name="Freeform 41" id="41"/>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0000">
                  <a:alpha val="0"/>
                </a:srgbClr>
              </a:solidFill>
              <a:ln w="95250" cap="sq">
                <a:solidFill>
                  <a:srgbClr val="000000"/>
                </a:solidFill>
                <a:prstDash val="solid"/>
                <a:miter/>
              </a:ln>
            </p:spPr>
          </p:sp>
          <p:sp>
            <p:nvSpPr>
              <p:cNvPr name="TextBox 42" id="42"/>
              <p:cNvSpPr txBox="true"/>
              <p:nvPr/>
            </p:nvSpPr>
            <p:spPr>
              <a:xfrm>
                <a:off x="127000" y="3175"/>
                <a:ext cx="558800" cy="377825"/>
              </a:xfrm>
              <a:prstGeom prst="rect">
                <a:avLst/>
              </a:prstGeom>
            </p:spPr>
            <p:txBody>
              <a:bodyPr anchor="ctr" rtlCol="false" tIns="40535" lIns="40535" bIns="40535" rIns="40535"/>
              <a:lstStyle/>
              <a:p>
                <a:pPr algn="ctr">
                  <a:lnSpc>
                    <a:spcPts val="2940"/>
                  </a:lnSpc>
                </a:pPr>
              </a:p>
            </p:txBody>
          </p:sp>
        </p:grpSp>
        <p:sp>
          <p:nvSpPr>
            <p:cNvPr name="AutoShape 43" id="43"/>
            <p:cNvSpPr/>
            <p:nvPr/>
          </p:nvSpPr>
          <p:spPr>
            <a:xfrm>
              <a:off x="0" y="1472362"/>
              <a:ext cx="1015911" cy="0"/>
            </a:xfrm>
            <a:prstGeom prst="line">
              <a:avLst/>
            </a:prstGeom>
            <a:ln cap="flat" w="127000">
              <a:solidFill>
                <a:srgbClr val="000000"/>
              </a:solidFill>
              <a:prstDash val="solid"/>
              <a:headEnd type="none" len="sm" w="sm"/>
              <a:tailEnd type="none" len="sm" w="sm"/>
            </a:ln>
          </p:spPr>
        </p:sp>
        <p:grpSp>
          <p:nvGrpSpPr>
            <p:cNvPr name="Group 44" id="44"/>
            <p:cNvGrpSpPr/>
            <p:nvPr/>
          </p:nvGrpSpPr>
          <p:grpSpPr>
            <a:xfrm rot="0">
              <a:off x="3437351" y="1053773"/>
              <a:ext cx="888773" cy="88877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solidFill>
                  <a:srgbClr val="000000"/>
                </a:solidFill>
                <a:prstDash val="solid"/>
                <a:miter/>
              </a:ln>
            </p:spPr>
          </p:sp>
          <p:sp>
            <p:nvSpPr>
              <p:cNvPr name="TextBox 46" id="46"/>
              <p:cNvSpPr txBox="true"/>
              <p:nvPr/>
            </p:nvSpPr>
            <p:spPr>
              <a:xfrm>
                <a:off x="76200" y="28575"/>
                <a:ext cx="660400" cy="708025"/>
              </a:xfrm>
              <a:prstGeom prst="rect">
                <a:avLst/>
              </a:prstGeom>
            </p:spPr>
            <p:txBody>
              <a:bodyPr anchor="ctr" rtlCol="false" tIns="40535" lIns="40535" bIns="40535" rIns="40535"/>
              <a:lstStyle/>
              <a:p>
                <a:pPr algn="ctr">
                  <a:lnSpc>
                    <a:spcPts val="2940"/>
                  </a:lnSpc>
                </a:pPr>
              </a:p>
            </p:txBody>
          </p:sp>
        </p:grpSp>
        <p:sp>
          <p:nvSpPr>
            <p:cNvPr name="AutoShape 47" id="47"/>
            <p:cNvSpPr/>
            <p:nvPr/>
          </p:nvSpPr>
          <p:spPr>
            <a:xfrm>
              <a:off x="4217664" y="1472362"/>
              <a:ext cx="1015911" cy="0"/>
            </a:xfrm>
            <a:prstGeom prst="line">
              <a:avLst/>
            </a:prstGeom>
            <a:ln cap="flat" w="127000">
              <a:solidFill>
                <a:srgbClr val="000000"/>
              </a:solidFill>
              <a:prstDash val="solid"/>
              <a:headEnd type="none" len="sm" w="sm"/>
              <a:tailEnd type="none" len="sm" w="sm"/>
            </a:ln>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3379197" y="4445050"/>
            <a:ext cx="4353628" cy="2096567"/>
            <a:chOff x="0" y="0"/>
            <a:chExt cx="5804838" cy="2795422"/>
          </a:xfrm>
        </p:grpSpPr>
        <p:grpSp>
          <p:nvGrpSpPr>
            <p:cNvPr name="Group 15" id="15"/>
            <p:cNvGrpSpPr/>
            <p:nvPr/>
          </p:nvGrpSpPr>
          <p:grpSpPr>
            <a:xfrm rot="5400000">
              <a:off x="1527163" y="60839"/>
              <a:ext cx="2795422" cy="2673744"/>
              <a:chOff x="0" y="0"/>
              <a:chExt cx="741755" cy="709468"/>
            </a:xfrm>
          </p:grpSpPr>
          <p:sp>
            <p:nvSpPr>
              <p:cNvPr name="Freeform 16" id="16"/>
              <p:cNvSpPr/>
              <p:nvPr/>
            </p:nvSpPr>
            <p:spPr>
              <a:xfrm flipH="false" flipV="false" rot="0">
                <a:off x="0" y="0"/>
                <a:ext cx="741755" cy="709468"/>
              </a:xfrm>
              <a:custGeom>
                <a:avLst/>
                <a:gdLst/>
                <a:ahLst/>
                <a:cxnLst/>
                <a:rect r="r" b="b" t="t" l="l"/>
                <a:pathLst>
                  <a:path h="709468" w="741755">
                    <a:moveTo>
                      <a:pt x="247385" y="19070"/>
                    </a:moveTo>
                    <a:cubicBezTo>
                      <a:pt x="285290" y="7556"/>
                      <a:pt x="328646" y="0"/>
                      <a:pt x="371077" y="0"/>
                    </a:cubicBezTo>
                    <a:cubicBezTo>
                      <a:pt x="413510" y="0"/>
                      <a:pt x="454341" y="6476"/>
                      <a:pt x="491968" y="17990"/>
                    </a:cubicBezTo>
                    <a:cubicBezTo>
                      <a:pt x="492769" y="18350"/>
                      <a:pt x="493570" y="18350"/>
                      <a:pt x="494370" y="18710"/>
                    </a:cubicBezTo>
                    <a:cubicBezTo>
                      <a:pt x="635676" y="64765"/>
                      <a:pt x="739754" y="186379"/>
                      <a:pt x="741755" y="326207"/>
                    </a:cubicBezTo>
                    <a:lnTo>
                      <a:pt x="741755" y="709468"/>
                    </a:lnTo>
                    <a:lnTo>
                      <a:pt x="0" y="709468"/>
                    </a:lnTo>
                    <a:lnTo>
                      <a:pt x="0" y="326491"/>
                    </a:lnTo>
                    <a:cubicBezTo>
                      <a:pt x="2001" y="185660"/>
                      <a:pt x="104478" y="64045"/>
                      <a:pt x="247385" y="19070"/>
                    </a:cubicBezTo>
                    <a:close/>
                  </a:path>
                </a:pathLst>
              </a:custGeom>
              <a:solidFill>
                <a:srgbClr val="000000">
                  <a:alpha val="0"/>
                </a:srgbClr>
              </a:solidFill>
              <a:ln w="95250" cap="sq">
                <a:solidFill>
                  <a:srgbClr val="000000"/>
                </a:solidFill>
                <a:prstDash val="solid"/>
                <a:miter/>
              </a:ln>
            </p:spPr>
          </p:sp>
          <p:sp>
            <p:nvSpPr>
              <p:cNvPr name="TextBox 17" id="17"/>
              <p:cNvSpPr txBox="true"/>
              <p:nvPr/>
            </p:nvSpPr>
            <p:spPr>
              <a:xfrm>
                <a:off x="0" y="79375"/>
                <a:ext cx="741755" cy="630093"/>
              </a:xfrm>
              <a:prstGeom prst="rect">
                <a:avLst/>
              </a:prstGeom>
            </p:spPr>
            <p:txBody>
              <a:bodyPr anchor="ctr" rtlCol="false" tIns="37817" lIns="37817" bIns="37817" rIns="37817"/>
              <a:lstStyle/>
              <a:p>
                <a:pPr algn="ctr">
                  <a:lnSpc>
                    <a:spcPts val="2940"/>
                  </a:lnSpc>
                </a:pPr>
              </a:p>
            </p:txBody>
          </p:sp>
        </p:grpSp>
        <p:sp>
          <p:nvSpPr>
            <p:cNvPr name="AutoShape 18" id="18"/>
            <p:cNvSpPr/>
            <p:nvPr/>
          </p:nvSpPr>
          <p:spPr>
            <a:xfrm>
              <a:off x="685162" y="731189"/>
              <a:ext cx="947796" cy="0"/>
            </a:xfrm>
            <a:prstGeom prst="line">
              <a:avLst/>
            </a:prstGeom>
            <a:ln cap="flat" w="127000">
              <a:solidFill>
                <a:srgbClr val="000000"/>
              </a:solidFill>
              <a:prstDash val="solid"/>
              <a:headEnd type="none" len="sm" w="sm"/>
              <a:tailEnd type="none" len="sm" w="sm"/>
            </a:ln>
          </p:spPr>
        </p:sp>
        <p:sp>
          <p:nvSpPr>
            <p:cNvPr name="AutoShape 19" id="19"/>
            <p:cNvSpPr/>
            <p:nvPr/>
          </p:nvSpPr>
          <p:spPr>
            <a:xfrm>
              <a:off x="685162" y="2064233"/>
              <a:ext cx="947796" cy="0"/>
            </a:xfrm>
            <a:prstGeom prst="line">
              <a:avLst/>
            </a:prstGeom>
            <a:ln cap="flat" w="127000">
              <a:solidFill>
                <a:srgbClr val="000000"/>
              </a:solidFill>
              <a:prstDash val="solid"/>
              <a:headEnd type="none" len="sm" w="sm"/>
              <a:tailEnd type="none" len="sm" w="sm"/>
            </a:ln>
          </p:spPr>
        </p:sp>
        <p:sp>
          <p:nvSpPr>
            <p:cNvPr name="AutoShape 20" id="20"/>
            <p:cNvSpPr/>
            <p:nvPr/>
          </p:nvSpPr>
          <p:spPr>
            <a:xfrm>
              <a:off x="4171880" y="1397711"/>
              <a:ext cx="947796" cy="0"/>
            </a:xfrm>
            <a:prstGeom prst="line">
              <a:avLst/>
            </a:prstGeom>
            <a:ln cap="flat" w="127000">
              <a:solidFill>
                <a:srgbClr val="000000"/>
              </a:solidFill>
              <a:prstDash val="solid"/>
              <a:headEnd type="none" len="sm" w="sm"/>
              <a:tailEnd type="none" len="sm" w="sm"/>
            </a:ln>
          </p:spPr>
        </p:sp>
        <p:sp>
          <p:nvSpPr>
            <p:cNvPr name="TextBox 21" id="21"/>
            <p:cNvSpPr txBox="true"/>
            <p:nvPr/>
          </p:nvSpPr>
          <p:spPr>
            <a:xfrm rot="0">
              <a:off x="0" y="220130"/>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A</a:t>
              </a:r>
            </a:p>
          </p:txBody>
        </p:sp>
        <p:sp>
          <p:nvSpPr>
            <p:cNvPr name="TextBox 22" id="22"/>
            <p:cNvSpPr txBox="true"/>
            <p:nvPr/>
          </p:nvSpPr>
          <p:spPr>
            <a:xfrm rot="0">
              <a:off x="0" y="1555482"/>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B</a:t>
              </a:r>
            </a:p>
          </p:txBody>
        </p:sp>
        <p:sp>
          <p:nvSpPr>
            <p:cNvPr name="TextBox 23" id="23"/>
            <p:cNvSpPr txBox="true"/>
            <p:nvPr/>
          </p:nvSpPr>
          <p:spPr>
            <a:xfrm rot="0">
              <a:off x="5233975" y="887806"/>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Q</a:t>
              </a:r>
            </a:p>
          </p:txBody>
        </p:sp>
      </p:grpSp>
      <p:graphicFrame>
        <p:nvGraphicFramePr>
          <p:cNvPr name="Table 24" id="24"/>
          <p:cNvGraphicFramePr>
            <a:graphicFrameLocks noGrp="true"/>
          </p:cNvGraphicFramePr>
          <p:nvPr/>
        </p:nvGraphicFramePr>
        <p:xfrm>
          <a:off x="10111241" y="1930983"/>
          <a:ext cx="6191250" cy="6153150"/>
        </p:xfrm>
        <a:graphic>
          <a:graphicData uri="http://schemas.openxmlformats.org/drawingml/2006/table">
            <a:tbl>
              <a:tblPr/>
              <a:tblGrid>
                <a:gridCol w="2063750"/>
                <a:gridCol w="2063750"/>
                <a:gridCol w="2063750"/>
              </a:tblGrid>
              <a:tr h="1025525">
                <a:tc gridSpan="2">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hMerge="true">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Q</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bl>
          </a:graphicData>
        </a:graphic>
      </p:graphicFrame>
      <p:sp>
        <p:nvSpPr>
          <p:cNvPr name="TextBox 25" id="25"/>
          <p:cNvSpPr txBox="true"/>
          <p:nvPr/>
        </p:nvSpPr>
        <p:spPr>
          <a:xfrm rot="0">
            <a:off x="1975564" y="2517202"/>
            <a:ext cx="7160895" cy="1233806"/>
          </a:xfrm>
          <a:prstGeom prst="rect">
            <a:avLst/>
          </a:prstGeom>
        </p:spPr>
        <p:txBody>
          <a:bodyPr anchor="t" rtlCol="false" tIns="0" lIns="0" bIns="0" rIns="0">
            <a:spAutoFit/>
          </a:bodyPr>
          <a:lstStyle/>
          <a:p>
            <a:pPr algn="ctr">
              <a:lnSpc>
                <a:spcPts val="9200"/>
              </a:lnSpc>
            </a:pPr>
            <a:r>
              <a:rPr lang="en-US" b="true" sz="9200">
                <a:solidFill>
                  <a:srgbClr val="000000"/>
                </a:solidFill>
                <a:latin typeface="HK Grotesk Bold"/>
                <a:ea typeface="HK Grotesk Bold"/>
                <a:cs typeface="HK Grotesk Bold"/>
                <a:sym typeface="HK Grotesk Bold"/>
              </a:rPr>
              <a:t>AND Gate</a:t>
            </a:r>
          </a:p>
        </p:txBody>
      </p:sp>
      <p:sp>
        <p:nvSpPr>
          <p:cNvPr name="TextBox 26" id="26"/>
          <p:cNvSpPr txBox="true"/>
          <p:nvPr/>
        </p:nvSpPr>
        <p:spPr>
          <a:xfrm rot="0">
            <a:off x="1975564" y="7178508"/>
            <a:ext cx="7160895" cy="481330"/>
          </a:xfrm>
          <a:prstGeom prst="rect">
            <a:avLst/>
          </a:prstGeom>
        </p:spPr>
        <p:txBody>
          <a:bodyPr anchor="t" rtlCol="false" tIns="0" lIns="0" bIns="0" rIns="0">
            <a:spAutoFit/>
          </a:bodyPr>
          <a:lstStyle/>
          <a:p>
            <a:pPr algn="ctr">
              <a:lnSpc>
                <a:spcPts val="3919"/>
              </a:lnSpc>
            </a:pPr>
            <a:r>
              <a:rPr lang="en-US" sz="2799">
                <a:solidFill>
                  <a:srgbClr val="000000"/>
                </a:solidFill>
                <a:latin typeface="HK Grotesk"/>
                <a:ea typeface="HK Grotesk"/>
                <a:cs typeface="HK Grotesk"/>
                <a:sym typeface="HK Grotesk"/>
              </a:rPr>
              <a:t>Both inputs must be true for a true output.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9144000" y="2517202"/>
            <a:ext cx="7160425" cy="1233806"/>
          </a:xfrm>
          <a:prstGeom prst="rect">
            <a:avLst/>
          </a:prstGeom>
        </p:spPr>
        <p:txBody>
          <a:bodyPr anchor="t" rtlCol="false" tIns="0" lIns="0" bIns="0" rIns="0">
            <a:spAutoFit/>
          </a:bodyPr>
          <a:lstStyle/>
          <a:p>
            <a:pPr algn="ctr">
              <a:lnSpc>
                <a:spcPts val="9200"/>
              </a:lnSpc>
            </a:pPr>
            <a:r>
              <a:rPr lang="en-US" b="true" sz="9200">
                <a:solidFill>
                  <a:srgbClr val="000000"/>
                </a:solidFill>
                <a:latin typeface="HK Grotesk Bold"/>
                <a:ea typeface="HK Grotesk Bold"/>
                <a:cs typeface="HK Grotesk Bold"/>
                <a:sym typeface="HK Grotesk Bold"/>
              </a:rPr>
              <a:t>OR Gate</a:t>
            </a:r>
          </a:p>
        </p:txBody>
      </p:sp>
      <p:sp>
        <p:nvSpPr>
          <p:cNvPr name="TextBox 15" id="15"/>
          <p:cNvSpPr txBox="true"/>
          <p:nvPr/>
        </p:nvSpPr>
        <p:spPr>
          <a:xfrm rot="0">
            <a:off x="9144000" y="7178508"/>
            <a:ext cx="7160425" cy="481330"/>
          </a:xfrm>
          <a:prstGeom prst="rect">
            <a:avLst/>
          </a:prstGeom>
        </p:spPr>
        <p:txBody>
          <a:bodyPr anchor="t" rtlCol="false" tIns="0" lIns="0" bIns="0" rIns="0">
            <a:spAutoFit/>
          </a:bodyPr>
          <a:lstStyle/>
          <a:p>
            <a:pPr algn="ctr">
              <a:lnSpc>
                <a:spcPts val="3919"/>
              </a:lnSpc>
            </a:pPr>
            <a:r>
              <a:rPr lang="en-US" sz="2799">
                <a:solidFill>
                  <a:srgbClr val="000000"/>
                </a:solidFill>
                <a:latin typeface="HK Grotesk"/>
                <a:ea typeface="HK Grotesk"/>
                <a:cs typeface="HK Grotesk"/>
                <a:sym typeface="HK Grotesk"/>
              </a:rPr>
              <a:t>Only one needs to be true for a true output.</a:t>
            </a:r>
          </a:p>
        </p:txBody>
      </p:sp>
      <p:grpSp>
        <p:nvGrpSpPr>
          <p:cNvPr name="Group 16" id="16"/>
          <p:cNvGrpSpPr/>
          <p:nvPr/>
        </p:nvGrpSpPr>
        <p:grpSpPr>
          <a:xfrm rot="0">
            <a:off x="10545403" y="4167523"/>
            <a:ext cx="4357618" cy="2651619"/>
            <a:chOff x="0" y="0"/>
            <a:chExt cx="5810157" cy="3535493"/>
          </a:xfrm>
        </p:grpSpPr>
        <p:sp>
          <p:nvSpPr>
            <p:cNvPr name="TextBox 17" id="17"/>
            <p:cNvSpPr txBox="true"/>
            <p:nvPr/>
          </p:nvSpPr>
          <p:spPr>
            <a:xfrm rot="0">
              <a:off x="0" y="617787"/>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A</a:t>
              </a:r>
            </a:p>
          </p:txBody>
        </p:sp>
        <p:sp>
          <p:nvSpPr>
            <p:cNvPr name="TextBox 18" id="18"/>
            <p:cNvSpPr txBox="true"/>
            <p:nvPr/>
          </p:nvSpPr>
          <p:spPr>
            <a:xfrm rot="0">
              <a:off x="0" y="1746022"/>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B</a:t>
              </a:r>
            </a:p>
          </p:txBody>
        </p:sp>
        <p:sp>
          <p:nvSpPr>
            <p:cNvPr name="TextBox 19" id="19"/>
            <p:cNvSpPr txBox="true"/>
            <p:nvPr/>
          </p:nvSpPr>
          <p:spPr>
            <a:xfrm rot="0">
              <a:off x="5239295" y="1181905"/>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Q</a:t>
              </a:r>
            </a:p>
          </p:txBody>
        </p:sp>
        <p:sp>
          <p:nvSpPr>
            <p:cNvPr name="AutoShape 20" id="20"/>
            <p:cNvSpPr/>
            <p:nvPr/>
          </p:nvSpPr>
          <p:spPr>
            <a:xfrm flipH="true">
              <a:off x="1240666" y="360071"/>
              <a:ext cx="13876" cy="2709281"/>
            </a:xfrm>
            <a:prstGeom prst="line">
              <a:avLst/>
            </a:prstGeom>
            <a:ln cap="flat" w="127000">
              <a:solidFill>
                <a:srgbClr val="000000"/>
              </a:solidFill>
              <a:prstDash val="solid"/>
              <a:headEnd type="none" len="sm" w="sm"/>
              <a:tailEnd type="none" len="sm" w="sm"/>
            </a:ln>
          </p:spPr>
        </p:sp>
        <p:sp>
          <p:nvSpPr>
            <p:cNvPr name="AutoShape 21" id="21"/>
            <p:cNvSpPr/>
            <p:nvPr/>
          </p:nvSpPr>
          <p:spPr>
            <a:xfrm flipV="true">
              <a:off x="1347942" y="1691810"/>
              <a:ext cx="2859395" cy="1174760"/>
            </a:xfrm>
            <a:prstGeom prst="line">
              <a:avLst/>
            </a:prstGeom>
            <a:ln cap="flat" w="127000">
              <a:solidFill>
                <a:srgbClr val="000000"/>
              </a:solidFill>
              <a:prstDash val="solid"/>
              <a:headEnd type="none" len="sm" w="sm"/>
              <a:tailEnd type="none" len="sm" w="sm"/>
            </a:ln>
          </p:spPr>
        </p:sp>
        <p:sp>
          <p:nvSpPr>
            <p:cNvPr name="AutoShape 22" id="22"/>
            <p:cNvSpPr/>
            <p:nvPr/>
          </p:nvSpPr>
          <p:spPr>
            <a:xfrm>
              <a:off x="1347942" y="553552"/>
              <a:ext cx="2859395" cy="1181467"/>
            </a:xfrm>
            <a:prstGeom prst="line">
              <a:avLst/>
            </a:prstGeom>
            <a:ln cap="flat" w="127000">
              <a:solidFill>
                <a:srgbClr val="000000"/>
              </a:solidFill>
              <a:prstDash val="solid"/>
              <a:headEnd type="none" len="sm" w="sm"/>
              <a:tailEnd type="none" len="sm" w="sm"/>
            </a:ln>
          </p:spPr>
        </p:sp>
        <p:sp>
          <p:nvSpPr>
            <p:cNvPr name="AutoShape 23" id="23"/>
            <p:cNvSpPr/>
            <p:nvPr/>
          </p:nvSpPr>
          <p:spPr>
            <a:xfrm>
              <a:off x="799462" y="1127692"/>
              <a:ext cx="802176" cy="0"/>
            </a:xfrm>
            <a:prstGeom prst="line">
              <a:avLst/>
            </a:prstGeom>
            <a:ln cap="flat" w="127000">
              <a:solidFill>
                <a:srgbClr val="000000"/>
              </a:solidFill>
              <a:prstDash val="solid"/>
              <a:headEnd type="none" len="sm" w="sm"/>
              <a:tailEnd type="none" len="sm" w="sm"/>
            </a:ln>
          </p:spPr>
        </p:sp>
        <p:sp>
          <p:nvSpPr>
            <p:cNvPr name="AutoShape 24" id="24"/>
            <p:cNvSpPr/>
            <p:nvPr/>
          </p:nvSpPr>
          <p:spPr>
            <a:xfrm>
              <a:off x="799462" y="2255927"/>
              <a:ext cx="802176" cy="0"/>
            </a:xfrm>
            <a:prstGeom prst="line">
              <a:avLst/>
            </a:prstGeom>
            <a:ln cap="flat" w="127000">
              <a:solidFill>
                <a:srgbClr val="000000"/>
              </a:solidFill>
              <a:prstDash val="solid"/>
              <a:headEnd type="none" len="sm" w="sm"/>
              <a:tailEnd type="none" len="sm" w="sm"/>
            </a:ln>
          </p:spPr>
        </p:sp>
        <p:sp>
          <p:nvSpPr>
            <p:cNvPr name="AutoShape 25" id="25"/>
            <p:cNvSpPr/>
            <p:nvPr/>
          </p:nvSpPr>
          <p:spPr>
            <a:xfrm>
              <a:off x="4207337" y="1691810"/>
              <a:ext cx="802176" cy="0"/>
            </a:xfrm>
            <a:prstGeom prst="line">
              <a:avLst/>
            </a:prstGeom>
            <a:ln cap="flat" w="127000">
              <a:solidFill>
                <a:srgbClr val="000000"/>
              </a:solidFill>
              <a:prstDash val="solid"/>
              <a:headEnd type="none" len="sm" w="sm"/>
              <a:tailEnd type="none" len="sm" w="sm"/>
            </a:ln>
          </p:spPr>
        </p:sp>
      </p:grpSp>
      <p:graphicFrame>
        <p:nvGraphicFramePr>
          <p:cNvPr name="Table 26" id="26"/>
          <p:cNvGraphicFramePr>
            <a:graphicFrameLocks noGrp="true"/>
          </p:cNvGraphicFramePr>
          <p:nvPr/>
        </p:nvGraphicFramePr>
        <p:xfrm>
          <a:off x="2316472" y="1930983"/>
          <a:ext cx="6191250" cy="6153150"/>
        </p:xfrm>
        <a:graphic>
          <a:graphicData uri="http://schemas.openxmlformats.org/drawingml/2006/table">
            <a:tbl>
              <a:tblPr/>
              <a:tblGrid>
                <a:gridCol w="2063750"/>
                <a:gridCol w="2063750"/>
                <a:gridCol w="2063750"/>
              </a:tblGrid>
              <a:tr h="1025525">
                <a:tc gridSpan="2">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hMerge="true">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Q</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bl>
          </a:graphicData>
        </a:graphic>
      </p:graphicFrame>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3055337" y="4369713"/>
            <a:ext cx="5011295" cy="2247240"/>
            <a:chOff x="0" y="0"/>
            <a:chExt cx="6681726" cy="2996319"/>
          </a:xfrm>
        </p:grpSpPr>
        <p:sp>
          <p:nvSpPr>
            <p:cNvPr name="TextBox 15" id="15"/>
            <p:cNvSpPr txBox="true"/>
            <p:nvPr/>
          </p:nvSpPr>
          <p:spPr>
            <a:xfrm rot="0">
              <a:off x="0" y="962457"/>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A</a:t>
              </a:r>
            </a:p>
          </p:txBody>
        </p:sp>
        <p:sp>
          <p:nvSpPr>
            <p:cNvPr name="TextBox 16" id="16"/>
            <p:cNvSpPr txBox="true"/>
            <p:nvPr/>
          </p:nvSpPr>
          <p:spPr>
            <a:xfrm rot="0">
              <a:off x="6110864" y="988255"/>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Q</a:t>
              </a:r>
            </a:p>
          </p:txBody>
        </p:sp>
        <p:grpSp>
          <p:nvGrpSpPr>
            <p:cNvPr name="Group 17" id="17"/>
            <p:cNvGrpSpPr/>
            <p:nvPr/>
          </p:nvGrpSpPr>
          <p:grpSpPr>
            <a:xfrm rot="-5400000">
              <a:off x="1459628" y="187270"/>
              <a:ext cx="2996319" cy="2621780"/>
              <a:chOff x="0" y="0"/>
              <a:chExt cx="812800" cy="711200"/>
            </a:xfrm>
          </p:grpSpPr>
          <p:sp>
            <p:nvSpPr>
              <p:cNvPr name="Freeform 18" id="18"/>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0000">
                  <a:alpha val="0"/>
                </a:srgbClr>
              </a:solidFill>
              <a:ln w="95250" cap="sq">
                <a:solidFill>
                  <a:srgbClr val="000000"/>
                </a:solidFill>
                <a:prstDash val="solid"/>
                <a:miter/>
              </a:ln>
            </p:spPr>
          </p:sp>
          <p:sp>
            <p:nvSpPr>
              <p:cNvPr name="TextBox 19" id="19"/>
              <p:cNvSpPr txBox="true"/>
              <p:nvPr/>
            </p:nvSpPr>
            <p:spPr>
              <a:xfrm>
                <a:off x="127000" y="3175"/>
                <a:ext cx="558800" cy="377825"/>
              </a:xfrm>
              <a:prstGeom prst="rect">
                <a:avLst/>
              </a:prstGeom>
            </p:spPr>
            <p:txBody>
              <a:bodyPr anchor="ctr" rtlCol="false" tIns="40535" lIns="40535" bIns="40535" rIns="40535"/>
              <a:lstStyle/>
              <a:p>
                <a:pPr algn="ctr">
                  <a:lnSpc>
                    <a:spcPts val="2940"/>
                  </a:lnSpc>
                </a:pPr>
              </a:p>
            </p:txBody>
          </p:sp>
        </p:grpSp>
        <p:sp>
          <p:nvSpPr>
            <p:cNvPr name="AutoShape 20" id="20"/>
            <p:cNvSpPr/>
            <p:nvPr/>
          </p:nvSpPr>
          <p:spPr>
            <a:xfrm>
              <a:off x="724076" y="1472362"/>
              <a:ext cx="1015911" cy="0"/>
            </a:xfrm>
            <a:prstGeom prst="line">
              <a:avLst/>
            </a:prstGeom>
            <a:ln cap="flat" w="127000">
              <a:solidFill>
                <a:srgbClr val="000000"/>
              </a:solidFill>
              <a:prstDash val="solid"/>
              <a:headEnd type="none" len="sm" w="sm"/>
              <a:tailEnd type="none" len="sm" w="sm"/>
            </a:ln>
          </p:spPr>
        </p:sp>
        <p:grpSp>
          <p:nvGrpSpPr>
            <p:cNvPr name="Group 21" id="21"/>
            <p:cNvGrpSpPr/>
            <p:nvPr/>
          </p:nvGrpSpPr>
          <p:grpSpPr>
            <a:xfrm rot="0">
              <a:off x="4161427" y="1053773"/>
              <a:ext cx="888773" cy="88877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solidFill>
                  <a:srgbClr val="000000"/>
                </a:solidFill>
                <a:prstDash val="solid"/>
                <a:miter/>
              </a:ln>
            </p:spPr>
          </p:sp>
          <p:sp>
            <p:nvSpPr>
              <p:cNvPr name="TextBox 23" id="23"/>
              <p:cNvSpPr txBox="true"/>
              <p:nvPr/>
            </p:nvSpPr>
            <p:spPr>
              <a:xfrm>
                <a:off x="76200" y="28575"/>
                <a:ext cx="660400" cy="708025"/>
              </a:xfrm>
              <a:prstGeom prst="rect">
                <a:avLst/>
              </a:prstGeom>
            </p:spPr>
            <p:txBody>
              <a:bodyPr anchor="ctr" rtlCol="false" tIns="40535" lIns="40535" bIns="40535" rIns="40535"/>
              <a:lstStyle/>
              <a:p>
                <a:pPr algn="ctr">
                  <a:lnSpc>
                    <a:spcPts val="2940"/>
                  </a:lnSpc>
                </a:pPr>
              </a:p>
            </p:txBody>
          </p:sp>
        </p:grpSp>
        <p:sp>
          <p:nvSpPr>
            <p:cNvPr name="AutoShape 24" id="24"/>
            <p:cNvSpPr/>
            <p:nvPr/>
          </p:nvSpPr>
          <p:spPr>
            <a:xfrm>
              <a:off x="4941740" y="1472362"/>
              <a:ext cx="1015911" cy="0"/>
            </a:xfrm>
            <a:prstGeom prst="line">
              <a:avLst/>
            </a:prstGeom>
            <a:ln cap="flat" w="127000">
              <a:solidFill>
                <a:srgbClr val="000000"/>
              </a:solidFill>
              <a:prstDash val="solid"/>
              <a:headEnd type="none" len="sm" w="sm"/>
              <a:tailEnd type="none" len="sm" w="sm"/>
            </a:ln>
          </p:spPr>
        </p:sp>
      </p:grpSp>
      <p:sp>
        <p:nvSpPr>
          <p:cNvPr name="TextBox 25" id="25"/>
          <p:cNvSpPr txBox="true"/>
          <p:nvPr/>
        </p:nvSpPr>
        <p:spPr>
          <a:xfrm rot="0">
            <a:off x="1980536" y="2517202"/>
            <a:ext cx="7160895" cy="1233806"/>
          </a:xfrm>
          <a:prstGeom prst="rect">
            <a:avLst/>
          </a:prstGeom>
        </p:spPr>
        <p:txBody>
          <a:bodyPr anchor="t" rtlCol="false" tIns="0" lIns="0" bIns="0" rIns="0">
            <a:spAutoFit/>
          </a:bodyPr>
          <a:lstStyle/>
          <a:p>
            <a:pPr algn="ctr">
              <a:lnSpc>
                <a:spcPts val="9200"/>
              </a:lnSpc>
            </a:pPr>
            <a:r>
              <a:rPr lang="en-US" b="true" sz="9200">
                <a:solidFill>
                  <a:srgbClr val="000000"/>
                </a:solidFill>
                <a:latin typeface="HK Grotesk Bold"/>
                <a:ea typeface="HK Grotesk Bold"/>
                <a:cs typeface="HK Grotesk Bold"/>
                <a:sym typeface="HK Grotesk Bold"/>
              </a:rPr>
              <a:t>NOT Gate</a:t>
            </a:r>
          </a:p>
        </p:txBody>
      </p:sp>
      <p:sp>
        <p:nvSpPr>
          <p:cNvPr name="TextBox 26" id="26"/>
          <p:cNvSpPr txBox="true"/>
          <p:nvPr/>
        </p:nvSpPr>
        <p:spPr>
          <a:xfrm rot="0">
            <a:off x="1980536" y="7178508"/>
            <a:ext cx="7160895" cy="481330"/>
          </a:xfrm>
          <a:prstGeom prst="rect">
            <a:avLst/>
          </a:prstGeom>
        </p:spPr>
        <p:txBody>
          <a:bodyPr anchor="t" rtlCol="false" tIns="0" lIns="0" bIns="0" rIns="0">
            <a:spAutoFit/>
          </a:bodyPr>
          <a:lstStyle/>
          <a:p>
            <a:pPr algn="ctr">
              <a:lnSpc>
                <a:spcPts val="3919"/>
              </a:lnSpc>
            </a:pPr>
            <a:r>
              <a:rPr lang="en-US" b="true" sz="2799">
                <a:solidFill>
                  <a:srgbClr val="000000"/>
                </a:solidFill>
                <a:latin typeface="HK Grotesk Medium"/>
                <a:ea typeface="HK Grotesk Medium"/>
                <a:cs typeface="HK Grotesk Medium"/>
                <a:sym typeface="HK Grotesk Medium"/>
              </a:rPr>
              <a:t>A single input is reversed for a single ouput.</a:t>
            </a:r>
          </a:p>
        </p:txBody>
      </p:sp>
      <p:graphicFrame>
        <p:nvGraphicFramePr>
          <p:cNvPr name="Table 27" id="27"/>
          <p:cNvGraphicFramePr>
            <a:graphicFrameLocks noGrp="true"/>
          </p:cNvGraphicFramePr>
          <p:nvPr/>
        </p:nvGraphicFramePr>
        <p:xfrm>
          <a:off x="10823183" y="3086100"/>
          <a:ext cx="5484280" cy="4114800"/>
        </p:xfrm>
        <a:graphic>
          <a:graphicData uri="http://schemas.openxmlformats.org/drawingml/2006/table">
            <a:tbl>
              <a:tblPr/>
              <a:tblGrid>
                <a:gridCol w="2742140"/>
                <a:gridCol w="2742140"/>
              </a:tblGrid>
              <a:tr h="1028700">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8700">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Q</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8700">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700">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9144000" y="2517202"/>
            <a:ext cx="7160425" cy="1233806"/>
          </a:xfrm>
          <a:prstGeom prst="rect">
            <a:avLst/>
          </a:prstGeom>
        </p:spPr>
        <p:txBody>
          <a:bodyPr anchor="t" rtlCol="false" tIns="0" lIns="0" bIns="0" rIns="0">
            <a:spAutoFit/>
          </a:bodyPr>
          <a:lstStyle/>
          <a:p>
            <a:pPr algn="ctr">
              <a:lnSpc>
                <a:spcPts val="9200"/>
              </a:lnSpc>
            </a:pPr>
            <a:r>
              <a:rPr lang="en-US" b="true" sz="9200">
                <a:solidFill>
                  <a:srgbClr val="000000"/>
                </a:solidFill>
                <a:latin typeface="HK Grotesk Bold"/>
                <a:ea typeface="HK Grotesk Bold"/>
                <a:cs typeface="HK Grotesk Bold"/>
                <a:sym typeface="HK Grotesk Bold"/>
              </a:rPr>
              <a:t>XOR Gate</a:t>
            </a:r>
          </a:p>
        </p:txBody>
      </p:sp>
      <p:sp>
        <p:nvSpPr>
          <p:cNvPr name="TextBox 15" id="15"/>
          <p:cNvSpPr txBox="true"/>
          <p:nvPr/>
        </p:nvSpPr>
        <p:spPr>
          <a:xfrm rot="0">
            <a:off x="9144000" y="7178508"/>
            <a:ext cx="7160425" cy="481330"/>
          </a:xfrm>
          <a:prstGeom prst="rect">
            <a:avLst/>
          </a:prstGeom>
        </p:spPr>
        <p:txBody>
          <a:bodyPr anchor="t" rtlCol="false" tIns="0" lIns="0" bIns="0" rIns="0">
            <a:spAutoFit/>
          </a:bodyPr>
          <a:lstStyle/>
          <a:p>
            <a:pPr algn="ctr">
              <a:lnSpc>
                <a:spcPts val="3919"/>
              </a:lnSpc>
            </a:pPr>
            <a:r>
              <a:rPr lang="en-US" sz="2799">
                <a:solidFill>
                  <a:srgbClr val="000000"/>
                </a:solidFill>
                <a:latin typeface="HK Grotesk"/>
                <a:ea typeface="HK Grotesk"/>
                <a:cs typeface="HK Grotesk"/>
                <a:sym typeface="HK Grotesk"/>
              </a:rPr>
              <a:t>Only one input can be true for a true output.</a:t>
            </a:r>
          </a:p>
        </p:txBody>
      </p:sp>
      <p:grpSp>
        <p:nvGrpSpPr>
          <p:cNvPr name="Group 16" id="16"/>
          <p:cNvGrpSpPr/>
          <p:nvPr/>
        </p:nvGrpSpPr>
        <p:grpSpPr>
          <a:xfrm rot="0">
            <a:off x="10545403" y="4166641"/>
            <a:ext cx="4357618" cy="2653408"/>
            <a:chOff x="0" y="0"/>
            <a:chExt cx="5810157" cy="3537877"/>
          </a:xfrm>
        </p:grpSpPr>
        <p:sp>
          <p:nvSpPr>
            <p:cNvPr name="TextBox 17" id="17"/>
            <p:cNvSpPr txBox="true"/>
            <p:nvPr/>
          </p:nvSpPr>
          <p:spPr>
            <a:xfrm rot="0">
              <a:off x="0" y="694900"/>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A</a:t>
              </a:r>
            </a:p>
          </p:txBody>
        </p:sp>
        <p:sp>
          <p:nvSpPr>
            <p:cNvPr name="TextBox 18" id="18"/>
            <p:cNvSpPr txBox="true"/>
            <p:nvPr/>
          </p:nvSpPr>
          <p:spPr>
            <a:xfrm rot="0">
              <a:off x="0" y="1823135"/>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B</a:t>
              </a:r>
            </a:p>
          </p:txBody>
        </p:sp>
        <p:sp>
          <p:nvSpPr>
            <p:cNvPr name="TextBox 19" id="19"/>
            <p:cNvSpPr txBox="true"/>
            <p:nvPr/>
          </p:nvSpPr>
          <p:spPr>
            <a:xfrm rot="0">
              <a:off x="5239295" y="1259018"/>
              <a:ext cx="570862" cy="934085"/>
            </a:xfrm>
            <a:prstGeom prst="rect">
              <a:avLst/>
            </a:prstGeom>
          </p:spPr>
          <p:txBody>
            <a:bodyPr anchor="t" rtlCol="false" tIns="0" lIns="0" bIns="0" rIns="0">
              <a:spAutoFit/>
            </a:bodyPr>
            <a:lstStyle/>
            <a:p>
              <a:pPr algn="ctr">
                <a:lnSpc>
                  <a:spcPts val="5880"/>
                </a:lnSpc>
              </a:pPr>
              <a:r>
                <a:rPr lang="en-US" b="true" sz="4200">
                  <a:solidFill>
                    <a:srgbClr val="000000"/>
                  </a:solidFill>
                  <a:latin typeface="HK Grotesk Bold"/>
                  <a:ea typeface="HK Grotesk Bold"/>
                  <a:cs typeface="HK Grotesk Bold"/>
                  <a:sym typeface="HK Grotesk Bold"/>
                </a:rPr>
                <a:t>Q</a:t>
              </a:r>
            </a:p>
          </p:txBody>
        </p:sp>
        <p:sp>
          <p:nvSpPr>
            <p:cNvPr name="AutoShape 20" id="20"/>
            <p:cNvSpPr/>
            <p:nvPr/>
          </p:nvSpPr>
          <p:spPr>
            <a:xfrm flipH="true">
              <a:off x="1253936" y="371799"/>
              <a:ext cx="13770" cy="2688635"/>
            </a:xfrm>
            <a:prstGeom prst="line">
              <a:avLst/>
            </a:prstGeom>
            <a:ln cap="flat" w="152400">
              <a:solidFill>
                <a:srgbClr val="000000"/>
              </a:solidFill>
              <a:prstDash val="solid"/>
              <a:headEnd type="none" len="sm" w="sm"/>
              <a:tailEnd type="none" len="sm" w="sm"/>
            </a:ln>
          </p:spPr>
        </p:sp>
        <p:sp>
          <p:nvSpPr>
            <p:cNvPr name="AutoShape 21" id="21"/>
            <p:cNvSpPr/>
            <p:nvPr/>
          </p:nvSpPr>
          <p:spPr>
            <a:xfrm flipV="true">
              <a:off x="1360395" y="1693389"/>
              <a:ext cx="2837605" cy="1165807"/>
            </a:xfrm>
            <a:prstGeom prst="line">
              <a:avLst/>
            </a:prstGeom>
            <a:ln cap="flat" w="152400">
              <a:solidFill>
                <a:srgbClr val="000000"/>
              </a:solidFill>
              <a:prstDash val="solid"/>
              <a:headEnd type="none" len="sm" w="sm"/>
              <a:tailEnd type="none" len="sm" w="sm"/>
            </a:ln>
          </p:spPr>
        </p:sp>
        <p:sp>
          <p:nvSpPr>
            <p:cNvPr name="AutoShape 22" id="22"/>
            <p:cNvSpPr/>
            <p:nvPr/>
          </p:nvSpPr>
          <p:spPr>
            <a:xfrm>
              <a:off x="1360395" y="563805"/>
              <a:ext cx="2837605" cy="1172464"/>
            </a:xfrm>
            <a:prstGeom prst="line">
              <a:avLst/>
            </a:prstGeom>
            <a:ln cap="flat" w="152400">
              <a:solidFill>
                <a:srgbClr val="000000"/>
              </a:solidFill>
              <a:prstDash val="solid"/>
              <a:headEnd type="none" len="sm" w="sm"/>
              <a:tailEnd type="none" len="sm" w="sm"/>
            </a:ln>
          </p:spPr>
        </p:sp>
        <p:sp>
          <p:nvSpPr>
            <p:cNvPr name="AutoShape 23" id="23"/>
            <p:cNvSpPr/>
            <p:nvPr/>
          </p:nvSpPr>
          <p:spPr>
            <a:xfrm>
              <a:off x="816095" y="1133571"/>
              <a:ext cx="796063" cy="0"/>
            </a:xfrm>
            <a:prstGeom prst="line">
              <a:avLst/>
            </a:prstGeom>
            <a:ln cap="flat" w="152400">
              <a:solidFill>
                <a:srgbClr val="000000"/>
              </a:solidFill>
              <a:prstDash val="solid"/>
              <a:headEnd type="none" len="sm" w="sm"/>
              <a:tailEnd type="none" len="sm" w="sm"/>
            </a:ln>
          </p:spPr>
        </p:sp>
        <p:sp>
          <p:nvSpPr>
            <p:cNvPr name="AutoShape 24" id="24"/>
            <p:cNvSpPr/>
            <p:nvPr/>
          </p:nvSpPr>
          <p:spPr>
            <a:xfrm>
              <a:off x="816095" y="2253208"/>
              <a:ext cx="796063" cy="0"/>
            </a:xfrm>
            <a:prstGeom prst="line">
              <a:avLst/>
            </a:prstGeom>
            <a:ln cap="flat" w="152400">
              <a:solidFill>
                <a:srgbClr val="000000"/>
              </a:solidFill>
              <a:prstDash val="solid"/>
              <a:headEnd type="none" len="sm" w="sm"/>
              <a:tailEnd type="none" len="sm" w="sm"/>
            </a:ln>
          </p:spPr>
        </p:sp>
        <p:sp>
          <p:nvSpPr>
            <p:cNvPr name="AutoShape 25" id="25"/>
            <p:cNvSpPr/>
            <p:nvPr/>
          </p:nvSpPr>
          <p:spPr>
            <a:xfrm>
              <a:off x="4197999" y="1693389"/>
              <a:ext cx="796063" cy="0"/>
            </a:xfrm>
            <a:prstGeom prst="line">
              <a:avLst/>
            </a:prstGeom>
            <a:ln cap="flat" w="152400">
              <a:solidFill>
                <a:srgbClr val="000000"/>
              </a:solidFill>
              <a:prstDash val="solid"/>
              <a:headEnd type="none" len="sm" w="sm"/>
              <a:tailEnd type="none" len="sm" w="sm"/>
            </a:ln>
          </p:spPr>
        </p:sp>
        <p:sp>
          <p:nvSpPr>
            <p:cNvPr name="AutoShape 26" id="26"/>
            <p:cNvSpPr/>
            <p:nvPr/>
          </p:nvSpPr>
          <p:spPr>
            <a:xfrm flipH="true">
              <a:off x="940144" y="390849"/>
              <a:ext cx="13770" cy="2688635"/>
            </a:xfrm>
            <a:prstGeom prst="line">
              <a:avLst/>
            </a:prstGeom>
            <a:ln cap="flat" w="152400">
              <a:solidFill>
                <a:srgbClr val="000000"/>
              </a:solidFill>
              <a:prstDash val="solid"/>
              <a:headEnd type="none" len="sm" w="sm"/>
              <a:tailEnd type="none" len="sm" w="sm"/>
            </a:ln>
          </p:spPr>
        </p:sp>
      </p:grpSp>
      <p:graphicFrame>
        <p:nvGraphicFramePr>
          <p:cNvPr name="Table 27" id="27"/>
          <p:cNvGraphicFramePr>
            <a:graphicFrameLocks noGrp="true"/>
          </p:cNvGraphicFramePr>
          <p:nvPr/>
        </p:nvGraphicFramePr>
        <p:xfrm>
          <a:off x="2316472" y="1930983"/>
          <a:ext cx="6191250" cy="6153150"/>
        </p:xfrm>
        <a:graphic>
          <a:graphicData uri="http://schemas.openxmlformats.org/drawingml/2006/table">
            <a:tbl>
              <a:tblPr/>
              <a:tblGrid>
                <a:gridCol w="2063750"/>
                <a:gridCol w="2063750"/>
                <a:gridCol w="2063750"/>
              </a:tblGrid>
              <a:tr h="1025525">
                <a:tc gridSpan="2">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hMerge="true">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Q</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32185" y="2174552"/>
            <a:ext cx="7142644" cy="1233806"/>
          </a:xfrm>
          <a:prstGeom prst="rect">
            <a:avLst/>
          </a:prstGeom>
        </p:spPr>
        <p:txBody>
          <a:bodyPr anchor="t" rtlCol="false" tIns="0" lIns="0" bIns="0" rIns="0">
            <a:spAutoFit/>
          </a:bodyPr>
          <a:lstStyle/>
          <a:p>
            <a:pPr algn="l">
              <a:lnSpc>
                <a:spcPts val="9200"/>
              </a:lnSpc>
            </a:pPr>
            <a:r>
              <a:rPr lang="en-US" sz="9200" b="true">
                <a:solidFill>
                  <a:srgbClr val="000000"/>
                </a:solidFill>
                <a:latin typeface="HK Grotesk Bold"/>
                <a:ea typeface="HK Grotesk Bold"/>
                <a:cs typeface="HK Grotesk Bold"/>
                <a:sym typeface="HK Grotesk Bold"/>
              </a:rPr>
              <a:t>Logic Circuits</a:t>
            </a:r>
          </a:p>
        </p:txBody>
      </p:sp>
      <p:sp>
        <p:nvSpPr>
          <p:cNvPr name="TextBox 15" id="15"/>
          <p:cNvSpPr txBox="true"/>
          <p:nvPr/>
        </p:nvSpPr>
        <p:spPr>
          <a:xfrm rot="0">
            <a:off x="2132185" y="3757678"/>
            <a:ext cx="7142644" cy="1471930"/>
          </a:xfrm>
          <a:prstGeom prst="rect">
            <a:avLst/>
          </a:prstGeom>
        </p:spPr>
        <p:txBody>
          <a:bodyPr anchor="t" rtlCol="false" tIns="0" lIns="0" bIns="0" rIns="0">
            <a:spAutoFit/>
          </a:bodyPr>
          <a:lstStyle/>
          <a:p>
            <a:pPr algn="l">
              <a:lnSpc>
                <a:spcPts val="3919"/>
              </a:lnSpc>
            </a:pPr>
            <a:r>
              <a:rPr lang="en-US" sz="2799">
                <a:solidFill>
                  <a:srgbClr val="000000"/>
                </a:solidFill>
                <a:latin typeface="HK Grotesk"/>
                <a:ea typeface="HK Grotesk"/>
                <a:cs typeface="HK Grotesk"/>
                <a:sym typeface="HK Grotesk"/>
              </a:rPr>
              <a:t>Multiple logic gates can be combined to create a logic circuit. In this example, the output of the OR gate is reversed through the NOT gate.</a:t>
            </a:r>
          </a:p>
        </p:txBody>
      </p:sp>
      <p:grpSp>
        <p:nvGrpSpPr>
          <p:cNvPr name="Group 16" id="16"/>
          <p:cNvGrpSpPr/>
          <p:nvPr/>
        </p:nvGrpSpPr>
        <p:grpSpPr>
          <a:xfrm rot="0">
            <a:off x="2132185" y="5636077"/>
            <a:ext cx="7142644" cy="2514129"/>
            <a:chOff x="0" y="0"/>
            <a:chExt cx="9523526" cy="3352172"/>
          </a:xfrm>
        </p:grpSpPr>
        <p:sp>
          <p:nvSpPr>
            <p:cNvPr name="TextBox 17" id="17"/>
            <p:cNvSpPr txBox="true"/>
            <p:nvPr/>
          </p:nvSpPr>
          <p:spPr>
            <a:xfrm rot="0">
              <a:off x="0" y="581309"/>
              <a:ext cx="541262" cy="890096"/>
            </a:xfrm>
            <a:prstGeom prst="rect">
              <a:avLst/>
            </a:prstGeom>
          </p:spPr>
          <p:txBody>
            <a:bodyPr anchor="t" rtlCol="false" tIns="0" lIns="0" bIns="0" rIns="0">
              <a:spAutoFit/>
            </a:bodyPr>
            <a:lstStyle/>
            <a:p>
              <a:pPr algn="ctr">
                <a:lnSpc>
                  <a:spcPts val="5575"/>
                </a:lnSpc>
              </a:pPr>
              <a:r>
                <a:rPr lang="en-US" b="true" sz="3982">
                  <a:solidFill>
                    <a:srgbClr val="000000"/>
                  </a:solidFill>
                  <a:latin typeface="HK Grotesk Bold"/>
                  <a:ea typeface="HK Grotesk Bold"/>
                  <a:cs typeface="HK Grotesk Bold"/>
                  <a:sym typeface="HK Grotesk Bold"/>
                </a:rPr>
                <a:t>A</a:t>
              </a:r>
            </a:p>
          </p:txBody>
        </p:sp>
        <p:sp>
          <p:nvSpPr>
            <p:cNvPr name="TextBox 18" id="18"/>
            <p:cNvSpPr txBox="true"/>
            <p:nvPr/>
          </p:nvSpPr>
          <p:spPr>
            <a:xfrm rot="0">
              <a:off x="0" y="1651043"/>
              <a:ext cx="541262" cy="890096"/>
            </a:xfrm>
            <a:prstGeom prst="rect">
              <a:avLst/>
            </a:prstGeom>
          </p:spPr>
          <p:txBody>
            <a:bodyPr anchor="t" rtlCol="false" tIns="0" lIns="0" bIns="0" rIns="0">
              <a:spAutoFit/>
            </a:bodyPr>
            <a:lstStyle/>
            <a:p>
              <a:pPr algn="ctr">
                <a:lnSpc>
                  <a:spcPts val="5575"/>
                </a:lnSpc>
              </a:pPr>
              <a:r>
                <a:rPr lang="en-US" b="true" sz="3982">
                  <a:solidFill>
                    <a:srgbClr val="000000"/>
                  </a:solidFill>
                  <a:latin typeface="HK Grotesk Bold"/>
                  <a:ea typeface="HK Grotesk Bold"/>
                  <a:cs typeface="HK Grotesk Bold"/>
                  <a:sym typeface="HK Grotesk Bold"/>
                </a:rPr>
                <a:t>B</a:t>
              </a:r>
            </a:p>
          </p:txBody>
        </p:sp>
        <p:sp>
          <p:nvSpPr>
            <p:cNvPr name="AutoShape 19" id="19"/>
            <p:cNvSpPr/>
            <p:nvPr/>
          </p:nvSpPr>
          <p:spPr>
            <a:xfrm flipH="true">
              <a:off x="1176336" y="341400"/>
              <a:ext cx="13157" cy="2568801"/>
            </a:xfrm>
            <a:prstGeom prst="line">
              <a:avLst/>
            </a:prstGeom>
            <a:ln cap="flat" w="120415">
              <a:solidFill>
                <a:srgbClr val="000000"/>
              </a:solidFill>
              <a:prstDash val="solid"/>
              <a:headEnd type="none" len="sm" w="sm"/>
              <a:tailEnd type="none" len="sm" w="sm"/>
            </a:ln>
          </p:spPr>
        </p:sp>
        <p:sp>
          <p:nvSpPr>
            <p:cNvPr name="AutoShape 20" id="20"/>
            <p:cNvSpPr/>
            <p:nvPr/>
          </p:nvSpPr>
          <p:spPr>
            <a:xfrm flipV="true">
              <a:off x="1278049" y="1604087"/>
              <a:ext cx="2711131" cy="1113846"/>
            </a:xfrm>
            <a:prstGeom prst="line">
              <a:avLst/>
            </a:prstGeom>
            <a:ln cap="flat" w="120415">
              <a:solidFill>
                <a:srgbClr val="000000"/>
              </a:solidFill>
              <a:prstDash val="solid"/>
              <a:headEnd type="none" len="sm" w="sm"/>
              <a:tailEnd type="none" len="sm" w="sm"/>
            </a:ln>
          </p:spPr>
        </p:sp>
        <p:sp>
          <p:nvSpPr>
            <p:cNvPr name="AutoShape 21" id="21"/>
            <p:cNvSpPr/>
            <p:nvPr/>
          </p:nvSpPr>
          <p:spPr>
            <a:xfrm>
              <a:off x="1278049" y="524849"/>
              <a:ext cx="2711131" cy="1120206"/>
            </a:xfrm>
            <a:prstGeom prst="line">
              <a:avLst/>
            </a:prstGeom>
            <a:ln cap="flat" w="120415">
              <a:solidFill>
                <a:srgbClr val="000000"/>
              </a:solidFill>
              <a:prstDash val="solid"/>
              <a:headEnd type="none" len="sm" w="sm"/>
              <a:tailEnd type="none" len="sm" w="sm"/>
            </a:ln>
          </p:spPr>
        </p:sp>
        <p:sp>
          <p:nvSpPr>
            <p:cNvPr name="AutoShape 22" id="22"/>
            <p:cNvSpPr/>
            <p:nvPr/>
          </p:nvSpPr>
          <p:spPr>
            <a:xfrm>
              <a:off x="758009" y="1069220"/>
              <a:ext cx="760582" cy="0"/>
            </a:xfrm>
            <a:prstGeom prst="line">
              <a:avLst/>
            </a:prstGeom>
            <a:ln cap="flat" w="120415">
              <a:solidFill>
                <a:srgbClr val="000000"/>
              </a:solidFill>
              <a:prstDash val="solid"/>
              <a:headEnd type="none" len="sm" w="sm"/>
              <a:tailEnd type="none" len="sm" w="sm"/>
            </a:ln>
          </p:spPr>
        </p:sp>
        <p:sp>
          <p:nvSpPr>
            <p:cNvPr name="AutoShape 23" id="23"/>
            <p:cNvSpPr/>
            <p:nvPr/>
          </p:nvSpPr>
          <p:spPr>
            <a:xfrm>
              <a:off x="758009" y="2138954"/>
              <a:ext cx="760582" cy="0"/>
            </a:xfrm>
            <a:prstGeom prst="line">
              <a:avLst/>
            </a:prstGeom>
            <a:ln cap="flat" w="120415">
              <a:solidFill>
                <a:srgbClr val="000000"/>
              </a:solidFill>
              <a:prstDash val="solid"/>
              <a:headEnd type="none" len="sm" w="sm"/>
              <a:tailEnd type="none" len="sm" w="sm"/>
            </a:ln>
          </p:spPr>
        </p:sp>
        <p:sp>
          <p:nvSpPr>
            <p:cNvPr name="AutoShape 24" id="24"/>
            <p:cNvSpPr/>
            <p:nvPr/>
          </p:nvSpPr>
          <p:spPr>
            <a:xfrm>
              <a:off x="3989180" y="1604087"/>
              <a:ext cx="760582" cy="0"/>
            </a:xfrm>
            <a:prstGeom prst="line">
              <a:avLst/>
            </a:prstGeom>
            <a:ln cap="flat" w="120415">
              <a:solidFill>
                <a:srgbClr val="000000"/>
              </a:solidFill>
              <a:prstDash val="solid"/>
              <a:headEnd type="none" len="sm" w="sm"/>
              <a:tailEnd type="none" len="sm" w="sm"/>
            </a:ln>
          </p:spPr>
        </p:sp>
        <p:sp>
          <p:nvSpPr>
            <p:cNvPr name="TextBox 25" id="25"/>
            <p:cNvSpPr txBox="true"/>
            <p:nvPr/>
          </p:nvSpPr>
          <p:spPr>
            <a:xfrm rot="0">
              <a:off x="8982263" y="1116176"/>
              <a:ext cx="541262" cy="890096"/>
            </a:xfrm>
            <a:prstGeom prst="rect">
              <a:avLst/>
            </a:prstGeom>
          </p:spPr>
          <p:txBody>
            <a:bodyPr anchor="t" rtlCol="false" tIns="0" lIns="0" bIns="0" rIns="0">
              <a:spAutoFit/>
            </a:bodyPr>
            <a:lstStyle/>
            <a:p>
              <a:pPr algn="ctr">
                <a:lnSpc>
                  <a:spcPts val="5575"/>
                </a:lnSpc>
              </a:pPr>
              <a:r>
                <a:rPr lang="en-US" b="true" sz="3982">
                  <a:solidFill>
                    <a:srgbClr val="000000"/>
                  </a:solidFill>
                  <a:latin typeface="HK Grotesk Bold"/>
                  <a:ea typeface="HK Grotesk Bold"/>
                  <a:cs typeface="HK Grotesk Bold"/>
                  <a:sym typeface="HK Grotesk Bold"/>
                </a:rPr>
                <a:t>Q</a:t>
              </a:r>
            </a:p>
          </p:txBody>
        </p:sp>
        <p:grpSp>
          <p:nvGrpSpPr>
            <p:cNvPr name="Group 26" id="26"/>
            <p:cNvGrpSpPr/>
            <p:nvPr/>
          </p:nvGrpSpPr>
          <p:grpSpPr>
            <a:xfrm rot="-5400000">
              <a:off x="4572202" y="361169"/>
              <a:ext cx="2840956" cy="2485836"/>
              <a:chOff x="0" y="0"/>
              <a:chExt cx="812800" cy="711200"/>
            </a:xfrm>
          </p:grpSpPr>
          <p:sp>
            <p:nvSpPr>
              <p:cNvPr name="Freeform 27" id="27"/>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0000">
                  <a:alpha val="0"/>
                </a:srgbClr>
              </a:solidFill>
              <a:ln w="95250" cap="sq">
                <a:solidFill>
                  <a:srgbClr val="000000"/>
                </a:solidFill>
                <a:prstDash val="solid"/>
                <a:miter/>
              </a:ln>
            </p:spPr>
          </p:sp>
          <p:sp>
            <p:nvSpPr>
              <p:cNvPr name="TextBox 28" id="28"/>
              <p:cNvSpPr txBox="true"/>
              <p:nvPr/>
            </p:nvSpPr>
            <p:spPr>
              <a:xfrm>
                <a:off x="127000" y="3175"/>
                <a:ext cx="558800" cy="377825"/>
              </a:xfrm>
              <a:prstGeom prst="rect">
                <a:avLst/>
              </a:prstGeom>
            </p:spPr>
            <p:txBody>
              <a:bodyPr anchor="ctr" rtlCol="false" tIns="40535" lIns="40535" bIns="40535" rIns="40535"/>
              <a:lstStyle/>
              <a:p>
                <a:pPr algn="ctr">
                  <a:lnSpc>
                    <a:spcPts val="2939"/>
                  </a:lnSpc>
                </a:pPr>
              </a:p>
            </p:txBody>
          </p:sp>
        </p:grpSp>
        <p:grpSp>
          <p:nvGrpSpPr>
            <p:cNvPr name="Group 29" id="29"/>
            <p:cNvGrpSpPr/>
            <p:nvPr/>
          </p:nvGrpSpPr>
          <p:grpSpPr>
            <a:xfrm rot="0">
              <a:off x="7133908" y="1182742"/>
              <a:ext cx="842689" cy="84268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solidFill>
                  <a:srgbClr val="000000"/>
                </a:solidFill>
                <a:prstDash val="solid"/>
                <a:miter/>
              </a:ln>
            </p:spPr>
          </p:sp>
          <p:sp>
            <p:nvSpPr>
              <p:cNvPr name="TextBox 31" id="31"/>
              <p:cNvSpPr txBox="true"/>
              <p:nvPr/>
            </p:nvSpPr>
            <p:spPr>
              <a:xfrm>
                <a:off x="76200" y="28575"/>
                <a:ext cx="660400" cy="708025"/>
              </a:xfrm>
              <a:prstGeom prst="rect">
                <a:avLst/>
              </a:prstGeom>
            </p:spPr>
            <p:txBody>
              <a:bodyPr anchor="ctr" rtlCol="false" tIns="40535" lIns="40535" bIns="40535" rIns="40535"/>
              <a:lstStyle/>
              <a:p>
                <a:pPr algn="ctr">
                  <a:lnSpc>
                    <a:spcPts val="2939"/>
                  </a:lnSpc>
                </a:pPr>
              </a:p>
            </p:txBody>
          </p:sp>
        </p:grpSp>
        <p:sp>
          <p:nvSpPr>
            <p:cNvPr name="AutoShape 32" id="32"/>
            <p:cNvSpPr/>
            <p:nvPr/>
          </p:nvSpPr>
          <p:spPr>
            <a:xfrm>
              <a:off x="7873760" y="1579626"/>
              <a:ext cx="963234" cy="0"/>
            </a:xfrm>
            <a:prstGeom prst="line">
              <a:avLst/>
            </a:prstGeom>
            <a:ln cap="flat" w="120415">
              <a:solidFill>
                <a:srgbClr val="000000"/>
              </a:solidFill>
              <a:prstDash val="solid"/>
              <a:headEnd type="none" len="sm" w="sm"/>
              <a:tailEnd type="none" len="sm" w="sm"/>
            </a:ln>
          </p:spPr>
        </p:sp>
      </p:grpSp>
      <p:graphicFrame>
        <p:nvGraphicFramePr>
          <p:cNvPr name="Table 33" id="33"/>
          <p:cNvGraphicFramePr>
            <a:graphicFrameLocks noGrp="true"/>
          </p:cNvGraphicFramePr>
          <p:nvPr/>
        </p:nvGraphicFramePr>
        <p:xfrm>
          <a:off x="10242070" y="2012627"/>
          <a:ext cx="6191250" cy="6153150"/>
        </p:xfrm>
        <a:graphic>
          <a:graphicData uri="http://schemas.openxmlformats.org/drawingml/2006/table">
            <a:tbl>
              <a:tblPr/>
              <a:tblGrid>
                <a:gridCol w="2063750"/>
                <a:gridCol w="2063750"/>
                <a:gridCol w="2063750"/>
              </a:tblGrid>
              <a:tr h="1025525">
                <a:tc gridSpan="2">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hMerge="true">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Input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Output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Q</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1025525">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bl>
          </a:graphicData>
        </a:graphic>
      </p:graphicFrame>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CAE8FF"/>
        </a:solidFill>
      </p:bgPr>
    </p:bg>
    <p:spTree>
      <p:nvGrpSpPr>
        <p:cNvPr id="1" name=""/>
        <p:cNvGrpSpPr/>
        <p:nvPr/>
      </p:nvGrpSpPr>
      <p:grpSpPr>
        <a:xfrm>
          <a:off x="0" y="0"/>
          <a:ext cx="0" cy="0"/>
          <a:chOff x="0" y="0"/>
          <a:chExt cx="0" cy="0"/>
        </a:xfrm>
      </p:grpSpPr>
      <p:sp>
        <p:nvSpPr>
          <p:cNvPr name="Freeform 2" id="2"/>
          <p:cNvSpPr/>
          <p:nvPr/>
        </p:nvSpPr>
        <p:spPr>
          <a:xfrm flipH="false" flipV="false" rot="0">
            <a:off x="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6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6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2000" y="-952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192000" y="5143500"/>
            <a:ext cx="6096000" cy="6096000"/>
          </a:xfrm>
          <a:custGeom>
            <a:avLst/>
            <a:gdLst/>
            <a:ahLst/>
            <a:cxnLst/>
            <a:rect r="r" b="b" t="t" l="l"/>
            <a:pathLst>
              <a:path h="6096000" w="6096000">
                <a:moveTo>
                  <a:pt x="0" y="0"/>
                </a:moveTo>
                <a:lnTo>
                  <a:pt x="6096000" y="0"/>
                </a:lnTo>
                <a:lnTo>
                  <a:pt x="6096000" y="6096000"/>
                </a:lnTo>
                <a:lnTo>
                  <a:pt x="0" y="6096000"/>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28700" y="1581027"/>
            <a:ext cx="15141289" cy="7677273"/>
            <a:chOff x="0" y="0"/>
            <a:chExt cx="3987829" cy="2021998"/>
          </a:xfrm>
        </p:grpSpPr>
        <p:sp>
          <p:nvSpPr>
            <p:cNvPr name="Freeform 9" id="9"/>
            <p:cNvSpPr/>
            <p:nvPr/>
          </p:nvSpPr>
          <p:spPr>
            <a:xfrm flipH="false" flipV="false" rot="0">
              <a:off x="0" y="0"/>
              <a:ext cx="3987829" cy="2021998"/>
            </a:xfrm>
            <a:custGeom>
              <a:avLst/>
              <a:gdLst/>
              <a:ahLst/>
              <a:cxnLst/>
              <a:rect r="r" b="b" t="t" l="l"/>
              <a:pathLst>
                <a:path h="2021998" w="3987829">
                  <a:moveTo>
                    <a:pt x="10226" y="0"/>
                  </a:moveTo>
                  <a:lnTo>
                    <a:pt x="3977603" y="0"/>
                  </a:lnTo>
                  <a:cubicBezTo>
                    <a:pt x="3980316" y="0"/>
                    <a:pt x="3982917" y="1077"/>
                    <a:pt x="3984834" y="2995"/>
                  </a:cubicBezTo>
                  <a:cubicBezTo>
                    <a:pt x="3986752" y="4913"/>
                    <a:pt x="3987829" y="7514"/>
                    <a:pt x="3987829" y="10226"/>
                  </a:cubicBezTo>
                  <a:lnTo>
                    <a:pt x="3987829" y="2011772"/>
                  </a:lnTo>
                  <a:cubicBezTo>
                    <a:pt x="3987829" y="2017419"/>
                    <a:pt x="3983251" y="2021998"/>
                    <a:pt x="3977603" y="2021998"/>
                  </a:cubicBezTo>
                  <a:lnTo>
                    <a:pt x="10226" y="2021998"/>
                  </a:lnTo>
                  <a:cubicBezTo>
                    <a:pt x="7514" y="2021998"/>
                    <a:pt x="4913" y="2020920"/>
                    <a:pt x="2995" y="2019003"/>
                  </a:cubicBezTo>
                  <a:cubicBezTo>
                    <a:pt x="1077" y="2017085"/>
                    <a:pt x="0" y="2014484"/>
                    <a:pt x="0" y="2011772"/>
                  </a:cubicBezTo>
                  <a:lnTo>
                    <a:pt x="0" y="10226"/>
                  </a:lnTo>
                  <a:cubicBezTo>
                    <a:pt x="0" y="7514"/>
                    <a:pt x="1077" y="4913"/>
                    <a:pt x="2995" y="2995"/>
                  </a:cubicBezTo>
                  <a:cubicBezTo>
                    <a:pt x="4913" y="1077"/>
                    <a:pt x="7514" y="0"/>
                    <a:pt x="10226" y="0"/>
                  </a:cubicBezTo>
                  <a:close/>
                </a:path>
              </a:pathLst>
            </a:custGeom>
            <a:solidFill>
              <a:srgbClr val="050A30"/>
            </a:solidFill>
            <a:ln w="38100" cap="sq">
              <a:solidFill>
                <a:srgbClr val="000000"/>
              </a:solidFill>
              <a:prstDash val="solid"/>
              <a:miter/>
            </a:ln>
          </p:spPr>
        </p:sp>
        <p:sp>
          <p:nvSpPr>
            <p:cNvPr name="TextBox 10" id="10"/>
            <p:cNvSpPr txBox="true"/>
            <p:nvPr/>
          </p:nvSpPr>
          <p:spPr>
            <a:xfrm>
              <a:off x="0" y="-38100"/>
              <a:ext cx="3987829" cy="20600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06205" y="1028700"/>
            <a:ext cx="15953095" cy="7957715"/>
            <a:chOff x="0" y="0"/>
            <a:chExt cx="4201638" cy="2095859"/>
          </a:xfrm>
        </p:grpSpPr>
        <p:sp>
          <p:nvSpPr>
            <p:cNvPr name="Freeform 12" id="12"/>
            <p:cNvSpPr/>
            <p:nvPr/>
          </p:nvSpPr>
          <p:spPr>
            <a:xfrm flipH="false" flipV="false" rot="0">
              <a:off x="0" y="0"/>
              <a:ext cx="4201638" cy="2095859"/>
            </a:xfrm>
            <a:custGeom>
              <a:avLst/>
              <a:gdLst/>
              <a:ahLst/>
              <a:cxnLst/>
              <a:rect r="r" b="b" t="t" l="l"/>
              <a:pathLst>
                <a:path h="2095859" w="4201638">
                  <a:moveTo>
                    <a:pt x="9706" y="0"/>
                  </a:moveTo>
                  <a:lnTo>
                    <a:pt x="4191932" y="0"/>
                  </a:lnTo>
                  <a:cubicBezTo>
                    <a:pt x="4197293" y="0"/>
                    <a:pt x="4201638" y="4345"/>
                    <a:pt x="4201638" y="9706"/>
                  </a:cubicBezTo>
                  <a:lnTo>
                    <a:pt x="4201638" y="2086153"/>
                  </a:lnTo>
                  <a:cubicBezTo>
                    <a:pt x="4201638" y="2088728"/>
                    <a:pt x="4200616" y="2091196"/>
                    <a:pt x="4198795" y="2093016"/>
                  </a:cubicBezTo>
                  <a:cubicBezTo>
                    <a:pt x="4196975" y="2094837"/>
                    <a:pt x="4194506" y="2095859"/>
                    <a:pt x="4191932" y="2095859"/>
                  </a:cubicBezTo>
                  <a:lnTo>
                    <a:pt x="9706" y="2095859"/>
                  </a:lnTo>
                  <a:cubicBezTo>
                    <a:pt x="7132" y="2095859"/>
                    <a:pt x="4663" y="2094837"/>
                    <a:pt x="2843" y="2093016"/>
                  </a:cubicBezTo>
                  <a:cubicBezTo>
                    <a:pt x="1023" y="2091196"/>
                    <a:pt x="0" y="2088728"/>
                    <a:pt x="0" y="2086153"/>
                  </a:cubicBezTo>
                  <a:lnTo>
                    <a:pt x="0" y="9706"/>
                  </a:lnTo>
                  <a:cubicBezTo>
                    <a:pt x="0" y="7132"/>
                    <a:pt x="1023" y="4663"/>
                    <a:pt x="2843" y="2843"/>
                  </a:cubicBezTo>
                  <a:cubicBezTo>
                    <a:pt x="4663" y="1023"/>
                    <a:pt x="7132" y="0"/>
                    <a:pt x="9706" y="0"/>
                  </a:cubicBezTo>
                  <a:close/>
                </a:path>
              </a:pathLst>
            </a:custGeom>
            <a:solidFill>
              <a:srgbClr val="F4F6FC"/>
            </a:solidFill>
            <a:ln w="38100" cap="sq">
              <a:solidFill>
                <a:srgbClr val="050A30"/>
              </a:solidFill>
              <a:prstDash val="solid"/>
              <a:miter/>
            </a:ln>
          </p:spPr>
        </p:sp>
        <p:sp>
          <p:nvSpPr>
            <p:cNvPr name="TextBox 13" id="13"/>
            <p:cNvSpPr txBox="true"/>
            <p:nvPr/>
          </p:nvSpPr>
          <p:spPr>
            <a:xfrm>
              <a:off x="0" y="-38100"/>
              <a:ext cx="4201638" cy="2133959"/>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8684973" y="4393779"/>
            <a:ext cx="8113204" cy="3565069"/>
            <a:chOff x="0" y="0"/>
            <a:chExt cx="10817605" cy="4753426"/>
          </a:xfrm>
        </p:grpSpPr>
        <p:sp>
          <p:nvSpPr>
            <p:cNvPr name="TextBox 15" id="15"/>
            <p:cNvSpPr txBox="true"/>
            <p:nvPr/>
          </p:nvSpPr>
          <p:spPr>
            <a:xfrm rot="0">
              <a:off x="0" y="707098"/>
              <a:ext cx="416226" cy="675705"/>
            </a:xfrm>
            <a:prstGeom prst="rect">
              <a:avLst/>
            </a:prstGeom>
          </p:spPr>
          <p:txBody>
            <a:bodyPr anchor="t" rtlCol="false" tIns="0" lIns="0" bIns="0" rIns="0">
              <a:spAutoFit/>
            </a:bodyPr>
            <a:lstStyle/>
            <a:p>
              <a:pPr algn="ctr">
                <a:lnSpc>
                  <a:spcPts val="4287"/>
                </a:lnSpc>
              </a:pPr>
              <a:r>
                <a:rPr lang="en-US" b="true" sz="3062">
                  <a:solidFill>
                    <a:srgbClr val="000000"/>
                  </a:solidFill>
                  <a:latin typeface="HK Grotesk Bold"/>
                  <a:ea typeface="HK Grotesk Bold"/>
                  <a:cs typeface="HK Grotesk Bold"/>
                  <a:sym typeface="HK Grotesk Bold"/>
                </a:rPr>
                <a:t>A</a:t>
              </a:r>
            </a:p>
          </p:txBody>
        </p:sp>
        <p:grpSp>
          <p:nvGrpSpPr>
            <p:cNvPr name="Group 16" id="16"/>
            <p:cNvGrpSpPr/>
            <p:nvPr/>
          </p:nvGrpSpPr>
          <p:grpSpPr>
            <a:xfrm rot="-5400000">
              <a:off x="1064241" y="136542"/>
              <a:ext cx="2184671" cy="1911587"/>
              <a:chOff x="0" y="0"/>
              <a:chExt cx="812800" cy="711200"/>
            </a:xfrm>
          </p:grpSpPr>
          <p:sp>
            <p:nvSpPr>
              <p:cNvPr name="Freeform 17" id="17"/>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00000">
                  <a:alpha val="0"/>
                </a:srgbClr>
              </a:solidFill>
              <a:ln w="76200" cap="sq">
                <a:solidFill>
                  <a:srgbClr val="000000"/>
                </a:solidFill>
                <a:prstDash val="solid"/>
                <a:miter/>
              </a:ln>
            </p:spPr>
          </p:sp>
          <p:sp>
            <p:nvSpPr>
              <p:cNvPr name="TextBox 18" id="18"/>
              <p:cNvSpPr txBox="true"/>
              <p:nvPr/>
            </p:nvSpPr>
            <p:spPr>
              <a:xfrm>
                <a:off x="127000" y="3175"/>
                <a:ext cx="558800" cy="377825"/>
              </a:xfrm>
              <a:prstGeom prst="rect">
                <a:avLst/>
              </a:prstGeom>
            </p:spPr>
            <p:txBody>
              <a:bodyPr anchor="ctr" rtlCol="false" tIns="40535" lIns="40535" bIns="40535" rIns="40535"/>
              <a:lstStyle/>
              <a:p>
                <a:pPr algn="ctr">
                  <a:lnSpc>
                    <a:spcPts val="2939"/>
                  </a:lnSpc>
                </a:pPr>
              </a:p>
            </p:txBody>
          </p:sp>
        </p:grpSp>
        <p:sp>
          <p:nvSpPr>
            <p:cNvPr name="AutoShape 19" id="19"/>
            <p:cNvSpPr/>
            <p:nvPr/>
          </p:nvSpPr>
          <p:spPr>
            <a:xfrm>
              <a:off x="527937" y="1073526"/>
              <a:ext cx="740719" cy="0"/>
            </a:xfrm>
            <a:prstGeom prst="line">
              <a:avLst/>
            </a:prstGeom>
            <a:ln cap="flat" w="91072">
              <a:solidFill>
                <a:srgbClr val="000000"/>
              </a:solidFill>
              <a:prstDash val="solid"/>
              <a:headEnd type="none" len="sm" w="sm"/>
              <a:tailEnd type="none" len="sm" w="sm"/>
            </a:ln>
          </p:spPr>
        </p:sp>
        <p:grpSp>
          <p:nvGrpSpPr>
            <p:cNvPr name="Group 20" id="20"/>
            <p:cNvGrpSpPr/>
            <p:nvPr/>
          </p:nvGrpSpPr>
          <p:grpSpPr>
            <a:xfrm rot="0">
              <a:off x="3034172" y="768325"/>
              <a:ext cx="648021" cy="6480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a:solidFill>
                  <a:srgbClr val="000000"/>
                </a:solidFill>
                <a:prstDash val="solid"/>
                <a:miter/>
              </a:ln>
            </p:spPr>
          </p:sp>
          <p:sp>
            <p:nvSpPr>
              <p:cNvPr name="TextBox 22" id="22"/>
              <p:cNvSpPr txBox="true"/>
              <p:nvPr/>
            </p:nvSpPr>
            <p:spPr>
              <a:xfrm>
                <a:off x="76200" y="28575"/>
                <a:ext cx="660400" cy="708025"/>
              </a:xfrm>
              <a:prstGeom prst="rect">
                <a:avLst/>
              </a:prstGeom>
            </p:spPr>
            <p:txBody>
              <a:bodyPr anchor="ctr" rtlCol="false" tIns="40535" lIns="40535" bIns="40535" rIns="40535"/>
              <a:lstStyle/>
              <a:p>
                <a:pPr algn="ctr">
                  <a:lnSpc>
                    <a:spcPts val="2939"/>
                  </a:lnSpc>
                </a:pPr>
              </a:p>
            </p:txBody>
          </p:sp>
        </p:grpSp>
        <p:sp>
          <p:nvSpPr>
            <p:cNvPr name="AutoShape 23" id="23"/>
            <p:cNvSpPr/>
            <p:nvPr/>
          </p:nvSpPr>
          <p:spPr>
            <a:xfrm>
              <a:off x="3603111" y="1073526"/>
              <a:ext cx="740719" cy="0"/>
            </a:xfrm>
            <a:prstGeom prst="line">
              <a:avLst/>
            </a:prstGeom>
            <a:ln cap="flat" w="91072">
              <a:solidFill>
                <a:srgbClr val="000000"/>
              </a:solidFill>
              <a:prstDash val="solid"/>
              <a:headEnd type="none" len="sm" w="sm"/>
              <a:tailEnd type="none" len="sm" w="sm"/>
            </a:ln>
          </p:spPr>
        </p:sp>
        <p:grpSp>
          <p:nvGrpSpPr>
            <p:cNvPr name="Group 24" id="24"/>
            <p:cNvGrpSpPr/>
            <p:nvPr/>
          </p:nvGrpSpPr>
          <p:grpSpPr>
            <a:xfrm rot="5400000">
              <a:off x="4270531" y="528710"/>
              <a:ext cx="2038193" cy="1949475"/>
              <a:chOff x="0" y="0"/>
              <a:chExt cx="741755" cy="709468"/>
            </a:xfrm>
          </p:grpSpPr>
          <p:sp>
            <p:nvSpPr>
              <p:cNvPr name="Freeform 25" id="25"/>
              <p:cNvSpPr/>
              <p:nvPr/>
            </p:nvSpPr>
            <p:spPr>
              <a:xfrm flipH="false" flipV="false" rot="0">
                <a:off x="0" y="0"/>
                <a:ext cx="741755" cy="709468"/>
              </a:xfrm>
              <a:custGeom>
                <a:avLst/>
                <a:gdLst/>
                <a:ahLst/>
                <a:cxnLst/>
                <a:rect r="r" b="b" t="t" l="l"/>
                <a:pathLst>
                  <a:path h="709468" w="741755">
                    <a:moveTo>
                      <a:pt x="247385" y="19070"/>
                    </a:moveTo>
                    <a:cubicBezTo>
                      <a:pt x="285290" y="7556"/>
                      <a:pt x="328646" y="0"/>
                      <a:pt x="371077" y="0"/>
                    </a:cubicBezTo>
                    <a:cubicBezTo>
                      <a:pt x="413510" y="0"/>
                      <a:pt x="454341" y="6476"/>
                      <a:pt x="491968" y="17990"/>
                    </a:cubicBezTo>
                    <a:cubicBezTo>
                      <a:pt x="492769" y="18350"/>
                      <a:pt x="493570" y="18350"/>
                      <a:pt x="494370" y="18710"/>
                    </a:cubicBezTo>
                    <a:cubicBezTo>
                      <a:pt x="635676" y="64765"/>
                      <a:pt x="739754" y="186379"/>
                      <a:pt x="741755" y="326207"/>
                    </a:cubicBezTo>
                    <a:lnTo>
                      <a:pt x="741755" y="709468"/>
                    </a:lnTo>
                    <a:lnTo>
                      <a:pt x="0" y="709468"/>
                    </a:lnTo>
                    <a:lnTo>
                      <a:pt x="0" y="326491"/>
                    </a:lnTo>
                    <a:cubicBezTo>
                      <a:pt x="2001" y="185660"/>
                      <a:pt x="104478" y="64045"/>
                      <a:pt x="247385" y="19070"/>
                    </a:cubicBezTo>
                    <a:close/>
                  </a:path>
                </a:pathLst>
              </a:custGeom>
              <a:solidFill>
                <a:srgbClr val="000000">
                  <a:alpha val="0"/>
                </a:srgbClr>
              </a:solidFill>
              <a:ln w="76200" cap="sq">
                <a:solidFill>
                  <a:srgbClr val="000000"/>
                </a:solidFill>
                <a:prstDash val="solid"/>
                <a:miter/>
              </a:ln>
            </p:spPr>
          </p:sp>
          <p:sp>
            <p:nvSpPr>
              <p:cNvPr name="TextBox 26" id="26"/>
              <p:cNvSpPr txBox="true"/>
              <p:nvPr/>
            </p:nvSpPr>
            <p:spPr>
              <a:xfrm>
                <a:off x="0" y="79375"/>
                <a:ext cx="741755" cy="630093"/>
              </a:xfrm>
              <a:prstGeom prst="rect">
                <a:avLst/>
              </a:prstGeom>
            </p:spPr>
            <p:txBody>
              <a:bodyPr anchor="ctr" rtlCol="false" tIns="37817" lIns="37817" bIns="37817" rIns="37817"/>
              <a:lstStyle/>
              <a:p>
                <a:pPr algn="ctr">
                  <a:lnSpc>
                    <a:spcPts val="2939"/>
                  </a:lnSpc>
                </a:pPr>
              </a:p>
            </p:txBody>
          </p:sp>
        </p:grpSp>
        <p:sp>
          <p:nvSpPr>
            <p:cNvPr name="AutoShape 27" id="27"/>
            <p:cNvSpPr/>
            <p:nvPr/>
          </p:nvSpPr>
          <p:spPr>
            <a:xfrm flipV="true">
              <a:off x="527937" y="1971069"/>
              <a:ext cx="3845311" cy="1418429"/>
            </a:xfrm>
            <a:prstGeom prst="line">
              <a:avLst/>
            </a:prstGeom>
            <a:ln cap="flat" w="91072">
              <a:solidFill>
                <a:srgbClr val="000000"/>
              </a:solidFill>
              <a:prstDash val="solid"/>
              <a:headEnd type="none" len="sm" w="sm"/>
              <a:tailEnd type="none" len="sm" w="sm"/>
            </a:ln>
          </p:spPr>
        </p:sp>
        <p:sp>
          <p:nvSpPr>
            <p:cNvPr name="AutoShape 28" id="28"/>
            <p:cNvSpPr/>
            <p:nvPr/>
          </p:nvSpPr>
          <p:spPr>
            <a:xfrm flipV="true">
              <a:off x="6264365" y="1503448"/>
              <a:ext cx="1466814" cy="0"/>
            </a:xfrm>
            <a:prstGeom prst="line">
              <a:avLst/>
            </a:prstGeom>
            <a:ln cap="flat" w="91072">
              <a:solidFill>
                <a:srgbClr val="000000"/>
              </a:solidFill>
              <a:prstDash val="solid"/>
              <a:headEnd type="none" len="sm" w="sm"/>
              <a:tailEnd type="none" len="sm" w="sm"/>
            </a:ln>
          </p:spPr>
        </p:sp>
        <p:sp>
          <p:nvSpPr>
            <p:cNvPr name="TextBox 29" id="29"/>
            <p:cNvSpPr txBox="true"/>
            <p:nvPr/>
          </p:nvSpPr>
          <p:spPr>
            <a:xfrm rot="0">
              <a:off x="0" y="3023071"/>
              <a:ext cx="416226" cy="675705"/>
            </a:xfrm>
            <a:prstGeom prst="rect">
              <a:avLst/>
            </a:prstGeom>
          </p:spPr>
          <p:txBody>
            <a:bodyPr anchor="t" rtlCol="false" tIns="0" lIns="0" bIns="0" rIns="0">
              <a:spAutoFit/>
            </a:bodyPr>
            <a:lstStyle/>
            <a:p>
              <a:pPr algn="ctr">
                <a:lnSpc>
                  <a:spcPts val="4287"/>
                </a:lnSpc>
              </a:pPr>
              <a:r>
                <a:rPr lang="en-US" b="true" sz="3062">
                  <a:solidFill>
                    <a:srgbClr val="000000"/>
                  </a:solidFill>
                  <a:latin typeface="HK Grotesk Bold"/>
                  <a:ea typeface="HK Grotesk Bold"/>
                  <a:cs typeface="HK Grotesk Bold"/>
                  <a:sym typeface="HK Grotesk Bold"/>
                </a:rPr>
                <a:t>B</a:t>
              </a:r>
            </a:p>
          </p:txBody>
        </p:sp>
        <p:sp>
          <p:nvSpPr>
            <p:cNvPr name="TextBox 30" id="30"/>
            <p:cNvSpPr txBox="true"/>
            <p:nvPr/>
          </p:nvSpPr>
          <p:spPr>
            <a:xfrm rot="0">
              <a:off x="10401379" y="1549558"/>
              <a:ext cx="416226" cy="675705"/>
            </a:xfrm>
            <a:prstGeom prst="rect">
              <a:avLst/>
            </a:prstGeom>
          </p:spPr>
          <p:txBody>
            <a:bodyPr anchor="t" rtlCol="false" tIns="0" lIns="0" bIns="0" rIns="0">
              <a:spAutoFit/>
            </a:bodyPr>
            <a:lstStyle/>
            <a:p>
              <a:pPr algn="ctr">
                <a:lnSpc>
                  <a:spcPts val="4287"/>
                </a:lnSpc>
              </a:pPr>
              <a:r>
                <a:rPr lang="en-US" b="true" sz="3062">
                  <a:solidFill>
                    <a:srgbClr val="000000"/>
                  </a:solidFill>
                  <a:latin typeface="HK Grotesk Bold"/>
                  <a:ea typeface="HK Grotesk Bold"/>
                  <a:cs typeface="HK Grotesk Bold"/>
                  <a:sym typeface="HK Grotesk Bold"/>
                </a:rPr>
                <a:t>Q</a:t>
              </a:r>
            </a:p>
          </p:txBody>
        </p:sp>
        <p:sp>
          <p:nvSpPr>
            <p:cNvPr name="AutoShape 31" id="31"/>
            <p:cNvSpPr/>
            <p:nvPr/>
          </p:nvSpPr>
          <p:spPr>
            <a:xfrm flipH="true">
              <a:off x="7495582" y="952390"/>
              <a:ext cx="10040" cy="1960332"/>
            </a:xfrm>
            <a:prstGeom prst="line">
              <a:avLst/>
            </a:prstGeom>
            <a:ln cap="flat" w="91072">
              <a:solidFill>
                <a:srgbClr val="000000"/>
              </a:solidFill>
              <a:prstDash val="solid"/>
              <a:headEnd type="none" len="sm" w="sm"/>
              <a:tailEnd type="none" len="sm" w="sm"/>
            </a:ln>
          </p:spPr>
        </p:sp>
        <p:sp>
          <p:nvSpPr>
            <p:cNvPr name="AutoShape 32" id="32"/>
            <p:cNvSpPr/>
            <p:nvPr/>
          </p:nvSpPr>
          <p:spPr>
            <a:xfrm flipV="true">
              <a:off x="7573203" y="1915985"/>
              <a:ext cx="2068949" cy="850011"/>
            </a:xfrm>
            <a:prstGeom prst="line">
              <a:avLst/>
            </a:prstGeom>
            <a:ln cap="flat" w="91072">
              <a:solidFill>
                <a:srgbClr val="000000"/>
              </a:solidFill>
              <a:prstDash val="solid"/>
              <a:headEnd type="none" len="sm" w="sm"/>
              <a:tailEnd type="none" len="sm" w="sm"/>
            </a:ln>
          </p:spPr>
        </p:sp>
        <p:sp>
          <p:nvSpPr>
            <p:cNvPr name="AutoShape 33" id="33"/>
            <p:cNvSpPr/>
            <p:nvPr/>
          </p:nvSpPr>
          <p:spPr>
            <a:xfrm>
              <a:off x="7573203" y="1092385"/>
              <a:ext cx="2068949" cy="854864"/>
            </a:xfrm>
            <a:prstGeom prst="line">
              <a:avLst/>
            </a:prstGeom>
            <a:ln cap="flat" w="91072">
              <a:solidFill>
                <a:srgbClr val="000000"/>
              </a:solidFill>
              <a:prstDash val="solid"/>
              <a:headEnd type="none" len="sm" w="sm"/>
              <a:tailEnd type="none" len="sm" w="sm"/>
            </a:ln>
          </p:spPr>
        </p:sp>
        <p:sp>
          <p:nvSpPr>
            <p:cNvPr name="AutoShape 34" id="34"/>
            <p:cNvSpPr/>
            <p:nvPr/>
          </p:nvSpPr>
          <p:spPr>
            <a:xfrm>
              <a:off x="9642152" y="1915985"/>
              <a:ext cx="580424" cy="0"/>
            </a:xfrm>
            <a:prstGeom prst="line">
              <a:avLst/>
            </a:prstGeom>
            <a:ln cap="flat" w="91072">
              <a:solidFill>
                <a:srgbClr val="000000"/>
              </a:solidFill>
              <a:prstDash val="solid"/>
              <a:headEnd type="none" len="sm" w="sm"/>
              <a:tailEnd type="none" len="sm" w="sm"/>
            </a:ln>
          </p:spPr>
        </p:sp>
        <p:sp>
          <p:nvSpPr>
            <p:cNvPr name="AutoShape 35" id="35"/>
            <p:cNvSpPr/>
            <p:nvPr/>
          </p:nvSpPr>
          <p:spPr>
            <a:xfrm flipH="true">
              <a:off x="7266791" y="966279"/>
              <a:ext cx="10040" cy="1960332"/>
            </a:xfrm>
            <a:prstGeom prst="line">
              <a:avLst/>
            </a:prstGeom>
            <a:ln cap="flat" w="91072">
              <a:solidFill>
                <a:srgbClr val="000000"/>
              </a:solidFill>
              <a:prstDash val="solid"/>
              <a:headEnd type="none" len="sm" w="sm"/>
              <a:tailEnd type="none" len="sm" w="sm"/>
            </a:ln>
          </p:spPr>
        </p:sp>
        <p:sp>
          <p:nvSpPr>
            <p:cNvPr name="AutoShape 36" id="36"/>
            <p:cNvSpPr/>
            <p:nvPr/>
          </p:nvSpPr>
          <p:spPr>
            <a:xfrm flipV="true">
              <a:off x="527937" y="2325951"/>
              <a:ext cx="7203242" cy="2118197"/>
            </a:xfrm>
            <a:prstGeom prst="line">
              <a:avLst/>
            </a:prstGeom>
            <a:ln cap="flat" w="91072">
              <a:solidFill>
                <a:srgbClr val="000000"/>
              </a:solidFill>
              <a:prstDash val="solid"/>
              <a:headEnd type="none" len="sm" w="sm"/>
              <a:tailEnd type="none" len="sm" w="sm"/>
            </a:ln>
          </p:spPr>
        </p:sp>
        <p:sp>
          <p:nvSpPr>
            <p:cNvPr name="TextBox 37" id="37"/>
            <p:cNvSpPr txBox="true"/>
            <p:nvPr/>
          </p:nvSpPr>
          <p:spPr>
            <a:xfrm rot="0">
              <a:off x="0" y="4077721"/>
              <a:ext cx="416226" cy="675705"/>
            </a:xfrm>
            <a:prstGeom prst="rect">
              <a:avLst/>
            </a:prstGeom>
          </p:spPr>
          <p:txBody>
            <a:bodyPr anchor="t" rtlCol="false" tIns="0" lIns="0" bIns="0" rIns="0">
              <a:spAutoFit/>
            </a:bodyPr>
            <a:lstStyle/>
            <a:p>
              <a:pPr algn="ctr">
                <a:lnSpc>
                  <a:spcPts val="4287"/>
                </a:lnSpc>
              </a:pPr>
              <a:r>
                <a:rPr lang="en-US" b="true" sz="3062">
                  <a:solidFill>
                    <a:srgbClr val="000000"/>
                  </a:solidFill>
                  <a:latin typeface="HK Grotesk Bold"/>
                  <a:ea typeface="HK Grotesk Bold"/>
                  <a:cs typeface="HK Grotesk Bold"/>
                  <a:sym typeface="HK Grotesk Bold"/>
                </a:rPr>
                <a:t>C</a:t>
              </a:r>
            </a:p>
          </p:txBody>
        </p:sp>
        <p:sp>
          <p:nvSpPr>
            <p:cNvPr name="TextBox 38" id="38"/>
            <p:cNvSpPr txBox="true"/>
            <p:nvPr/>
          </p:nvSpPr>
          <p:spPr>
            <a:xfrm rot="0">
              <a:off x="3790428" y="281754"/>
              <a:ext cx="416226" cy="670636"/>
            </a:xfrm>
            <a:prstGeom prst="rect">
              <a:avLst/>
            </a:prstGeom>
          </p:spPr>
          <p:txBody>
            <a:bodyPr anchor="t" rtlCol="false" tIns="0" lIns="0" bIns="0" rIns="0">
              <a:spAutoFit/>
            </a:bodyPr>
            <a:lstStyle/>
            <a:p>
              <a:pPr algn="ctr">
                <a:lnSpc>
                  <a:spcPts val="4287"/>
                </a:lnSpc>
              </a:pPr>
              <a:r>
                <a:rPr lang="en-US" sz="3062">
                  <a:solidFill>
                    <a:srgbClr val="000000"/>
                  </a:solidFill>
                  <a:latin typeface="HK Grotesk"/>
                  <a:ea typeface="HK Grotesk"/>
                  <a:cs typeface="HK Grotesk"/>
                  <a:sym typeface="HK Grotesk"/>
                </a:rPr>
                <a:t>D</a:t>
              </a:r>
            </a:p>
          </p:txBody>
        </p:sp>
        <p:sp>
          <p:nvSpPr>
            <p:cNvPr name="TextBox 39" id="39"/>
            <p:cNvSpPr txBox="true"/>
            <p:nvPr/>
          </p:nvSpPr>
          <p:spPr>
            <a:xfrm rot="0">
              <a:off x="6652472" y="707098"/>
              <a:ext cx="416226" cy="670636"/>
            </a:xfrm>
            <a:prstGeom prst="rect">
              <a:avLst/>
            </a:prstGeom>
          </p:spPr>
          <p:txBody>
            <a:bodyPr anchor="t" rtlCol="false" tIns="0" lIns="0" bIns="0" rIns="0">
              <a:spAutoFit/>
            </a:bodyPr>
            <a:lstStyle/>
            <a:p>
              <a:pPr algn="ctr">
                <a:lnSpc>
                  <a:spcPts val="4287"/>
                </a:lnSpc>
              </a:pPr>
              <a:r>
                <a:rPr lang="en-US" sz="3062">
                  <a:solidFill>
                    <a:srgbClr val="000000"/>
                  </a:solidFill>
                  <a:latin typeface="HK Grotesk"/>
                  <a:ea typeface="HK Grotesk"/>
                  <a:cs typeface="HK Grotesk"/>
                  <a:sym typeface="HK Grotesk"/>
                </a:rPr>
                <a:t>E</a:t>
              </a:r>
            </a:p>
          </p:txBody>
        </p:sp>
      </p:grpSp>
      <p:sp>
        <p:nvSpPr>
          <p:cNvPr name="TextBox 40" id="40"/>
          <p:cNvSpPr txBox="true"/>
          <p:nvPr/>
        </p:nvSpPr>
        <p:spPr>
          <a:xfrm rot="0">
            <a:off x="8684973" y="2499602"/>
            <a:ext cx="8113204" cy="1233806"/>
          </a:xfrm>
          <a:prstGeom prst="rect">
            <a:avLst/>
          </a:prstGeom>
        </p:spPr>
        <p:txBody>
          <a:bodyPr anchor="t" rtlCol="false" tIns="0" lIns="0" bIns="0" rIns="0">
            <a:spAutoFit/>
          </a:bodyPr>
          <a:lstStyle/>
          <a:p>
            <a:pPr algn="ctr">
              <a:lnSpc>
                <a:spcPts val="9200"/>
              </a:lnSpc>
            </a:pPr>
            <a:r>
              <a:rPr lang="en-US" b="true" sz="9200">
                <a:solidFill>
                  <a:srgbClr val="000000"/>
                </a:solidFill>
                <a:latin typeface="HK Grotesk Bold"/>
                <a:ea typeface="HK Grotesk Bold"/>
                <a:cs typeface="HK Grotesk Bold"/>
                <a:sym typeface="HK Grotesk Bold"/>
              </a:rPr>
              <a:t>Logic Circuits</a:t>
            </a:r>
          </a:p>
        </p:txBody>
      </p:sp>
      <p:graphicFrame>
        <p:nvGraphicFramePr>
          <p:cNvPr name="Table 41" id="41"/>
          <p:cNvGraphicFramePr>
            <a:graphicFrameLocks noGrp="true"/>
          </p:cNvGraphicFramePr>
          <p:nvPr/>
        </p:nvGraphicFramePr>
        <p:xfrm>
          <a:off x="1767328" y="1426158"/>
          <a:ext cx="6191250" cy="7162800"/>
        </p:xfrm>
        <a:graphic>
          <a:graphicData uri="http://schemas.openxmlformats.org/drawingml/2006/table">
            <a:tbl>
              <a:tblPr/>
              <a:tblGrid>
                <a:gridCol w="1031875"/>
                <a:gridCol w="1031875"/>
                <a:gridCol w="1031875"/>
                <a:gridCol w="1031875"/>
                <a:gridCol w="1031875"/>
                <a:gridCol w="1031875"/>
              </a:tblGrid>
              <a:tr h="795867">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A</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B</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C</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D</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E</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c>
                  <a:txBody>
                    <a:bodyPr anchor="t" rtlCol="false"/>
                    <a:lstStyle/>
                    <a:p>
                      <a:pPr algn="ctr">
                        <a:lnSpc>
                          <a:spcPts val="3919"/>
                        </a:lnSpc>
                        <a:defRPr/>
                      </a:pPr>
                      <a:r>
                        <a:rPr lang="en-US" sz="2799" b="true">
                          <a:solidFill>
                            <a:srgbClr val="000000"/>
                          </a:solidFill>
                          <a:latin typeface="HK Grotesk Bold"/>
                          <a:ea typeface="HK Grotesk Bold"/>
                          <a:cs typeface="HK Grotesk Bold"/>
                          <a:sym typeface="HK Grotesk Bold"/>
                        </a:rPr>
                        <a:t>Q</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r h="795867">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0</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HK Grotesk"/>
                          <a:ea typeface="HK Grotesk"/>
                          <a:cs typeface="HK Grotesk"/>
                          <a:sym typeface="HK Grotesk"/>
                        </a:rPr>
                        <a:t>1</a:t>
                      </a:r>
                      <a:endParaRPr lang="en-US" sz="1100"/>
                    </a:p>
                  </a:txBody>
                  <a:tcPr marL="0" marR="0"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AE8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DAGbCAWal0g</dc:identifier>
  <dcterms:modified xsi:type="dcterms:W3CDTF">2011-08-01T06:04:30Z</dcterms:modified>
  <cp:revision>1</cp:revision>
  <dc:title>Logic Gates Presentation in Blue Clean Style</dc:title>
</cp:coreProperties>
</file>